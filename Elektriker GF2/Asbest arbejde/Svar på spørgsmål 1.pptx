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handoutMasterIdLst>
    <p:handoutMasterId r:id="rId48"/>
  </p:handoutMasterIdLst>
  <p:sldIdLst>
    <p:sldId id="256" r:id="rId5"/>
    <p:sldId id="259" r:id="rId6"/>
    <p:sldId id="446" r:id="rId7"/>
    <p:sldId id="447" r:id="rId8"/>
    <p:sldId id="448" r:id="rId9"/>
    <p:sldId id="449" r:id="rId10"/>
    <p:sldId id="450" r:id="rId11"/>
    <p:sldId id="451" r:id="rId12"/>
    <p:sldId id="452" r:id="rId13"/>
    <p:sldId id="454" r:id="rId14"/>
    <p:sldId id="455" r:id="rId15"/>
    <p:sldId id="456" r:id="rId16"/>
    <p:sldId id="457" r:id="rId17"/>
    <p:sldId id="458" r:id="rId18"/>
    <p:sldId id="459" r:id="rId19"/>
    <p:sldId id="460" r:id="rId20"/>
    <p:sldId id="461" r:id="rId21"/>
    <p:sldId id="485" r:id="rId22"/>
    <p:sldId id="462" r:id="rId23"/>
    <p:sldId id="463" r:id="rId24"/>
    <p:sldId id="464" r:id="rId25"/>
    <p:sldId id="465" r:id="rId26"/>
    <p:sldId id="466" r:id="rId27"/>
    <p:sldId id="467" r:id="rId28"/>
    <p:sldId id="468" r:id="rId29"/>
    <p:sldId id="469" r:id="rId30"/>
    <p:sldId id="470" r:id="rId31"/>
    <p:sldId id="471" r:id="rId32"/>
    <p:sldId id="472" r:id="rId33"/>
    <p:sldId id="473" r:id="rId34"/>
    <p:sldId id="474" r:id="rId35"/>
    <p:sldId id="475" r:id="rId36"/>
    <p:sldId id="476" r:id="rId37"/>
    <p:sldId id="477" r:id="rId38"/>
    <p:sldId id="478" r:id="rId39"/>
    <p:sldId id="479" r:id="rId40"/>
    <p:sldId id="480" r:id="rId41"/>
    <p:sldId id="481" r:id="rId42"/>
    <p:sldId id="482" r:id="rId43"/>
    <p:sldId id="483" r:id="rId44"/>
    <p:sldId id="484" r:id="rId45"/>
    <p:sldId id="257" r:id="rId46"/>
    <p:sldId id="258"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sektion" id="{F6F69B7D-20F6-4B9A-BA12-0F7B2BABE4CE}">
          <p14:sldIdLst>
            <p14:sldId id="256"/>
            <p14:sldId id="259"/>
            <p14:sldId id="446"/>
            <p14:sldId id="447"/>
            <p14:sldId id="448"/>
            <p14:sldId id="449"/>
            <p14:sldId id="450"/>
            <p14:sldId id="451"/>
            <p14:sldId id="452"/>
            <p14:sldId id="454"/>
            <p14:sldId id="455"/>
            <p14:sldId id="456"/>
            <p14:sldId id="457"/>
            <p14:sldId id="458"/>
            <p14:sldId id="459"/>
            <p14:sldId id="460"/>
            <p14:sldId id="461"/>
            <p14:sldId id="485"/>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257"/>
            <p14:sldId id="2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notesViewPr>
    <p:cSldViewPr snapToGrid="0">
      <p:cViewPr varScale="1">
        <p:scale>
          <a:sx n="100" d="100"/>
          <a:sy n="100" d="100"/>
        </p:scale>
        <p:origin x="355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BD81EC-FC3F-4E6A-BF02-72E504D191C0}" type="datetimeFigureOut">
              <a:rPr lang="da-DK" smtClean="0"/>
              <a:t>07-04-2026</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305C02-7227-4DA5-893D-251B0822079E}" type="slidenum">
              <a:rPr lang="da-DK" smtClean="0"/>
              <a:t>‹nr.›</a:t>
            </a:fld>
            <a:endParaRPr lang="da-DK"/>
          </a:p>
        </p:txBody>
      </p:sp>
    </p:spTree>
    <p:extLst>
      <p:ext uri="{BB962C8B-B14F-4D97-AF65-F5344CB8AC3E}">
        <p14:creationId xmlns:p14="http://schemas.microsoft.com/office/powerpoint/2010/main" val="121274208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AMU SYD Powerpoint">
    <p:spTree>
      <p:nvGrpSpPr>
        <p:cNvPr id="1" name=""/>
        <p:cNvGrpSpPr/>
        <p:nvPr/>
      </p:nvGrpSpPr>
      <p:grpSpPr>
        <a:xfrm>
          <a:off x="0" y="0"/>
          <a:ext cx="0" cy="0"/>
          <a:chOff x="0" y="0"/>
          <a:chExt cx="0" cy="0"/>
        </a:xfrm>
      </p:grpSpPr>
      <p:sp>
        <p:nvSpPr>
          <p:cNvPr id="2" name="Title 1"/>
          <p:cNvSpPr>
            <a:spLocks noGrp="1"/>
          </p:cNvSpPr>
          <p:nvPr>
            <p:ph type="ctrTitle"/>
          </p:nvPr>
        </p:nvSpPr>
        <p:spPr>
          <a:xfrm>
            <a:off x="615246" y="1139253"/>
            <a:ext cx="10952777" cy="3194622"/>
          </a:xfrm>
        </p:spPr>
        <p:txBody>
          <a:bodyPr anchor="b">
            <a:normAutofit/>
          </a:bodyPr>
          <a:lstStyle>
            <a:lvl1pPr algn="l">
              <a:lnSpc>
                <a:spcPct val="85000"/>
              </a:lnSpc>
              <a:defRPr sz="4400" b="1" spc="-28" baseline="0">
                <a:solidFill>
                  <a:schemeClr val="tx1">
                    <a:lumMod val="75000"/>
                    <a:lumOff val="25000"/>
                  </a:schemeClr>
                </a:solidFill>
              </a:defRPr>
            </a:lvl1pPr>
          </a:lstStyle>
          <a:p>
            <a:r>
              <a:rPr lang="da-DK"/>
              <a:t>Klik for at redigere titeltypografien i masteren</a:t>
            </a:r>
            <a:endParaRPr lang="en-US" dirty="0"/>
          </a:p>
        </p:txBody>
      </p:sp>
      <p:sp>
        <p:nvSpPr>
          <p:cNvPr id="3" name="Subtitle 2"/>
          <p:cNvSpPr>
            <a:spLocks noGrp="1"/>
          </p:cNvSpPr>
          <p:nvPr>
            <p:ph type="subTitle" idx="1"/>
          </p:nvPr>
        </p:nvSpPr>
        <p:spPr>
          <a:xfrm>
            <a:off x="615245" y="4455621"/>
            <a:ext cx="10952777" cy="1143000"/>
          </a:xfrm>
        </p:spPr>
        <p:txBody>
          <a:bodyPr lIns="91440" rIns="91440">
            <a:normAutofit/>
          </a:bodyPr>
          <a:lstStyle>
            <a:lvl1pPr marL="0" indent="0" algn="l">
              <a:buNone/>
              <a:defRPr sz="1800" cap="all" spc="113" baseline="0">
                <a:solidFill>
                  <a:schemeClr val="tx2"/>
                </a:solidFill>
                <a:latin typeface="Calibri" panose="020F0502020204030204" pitchFamily="34" charset="0"/>
                <a:cs typeface="Calibri" panose="020F0502020204030204" pitchFamily="34" charset="0"/>
              </a:defRPr>
            </a:lvl1pPr>
            <a:lvl2pPr marL="257175" indent="0" algn="ctr">
              <a:buNone/>
              <a:defRPr sz="1350"/>
            </a:lvl2pPr>
            <a:lvl3pPr marL="514350" indent="0" algn="ctr">
              <a:buNone/>
              <a:defRPr sz="1350"/>
            </a:lvl3pPr>
            <a:lvl4pPr marL="771525" indent="0" algn="ctr">
              <a:buNone/>
              <a:defRPr sz="1125"/>
            </a:lvl4pPr>
            <a:lvl5pPr marL="1028700" indent="0" algn="ctr">
              <a:buNone/>
              <a:defRPr sz="1125"/>
            </a:lvl5pPr>
            <a:lvl6pPr marL="1285875" indent="0" algn="ctr">
              <a:buNone/>
              <a:defRPr sz="1125"/>
            </a:lvl6pPr>
            <a:lvl7pPr marL="1543050" indent="0" algn="ctr">
              <a:buNone/>
              <a:defRPr sz="1125"/>
            </a:lvl7pPr>
            <a:lvl8pPr marL="1800225" indent="0" algn="ctr">
              <a:buNone/>
              <a:defRPr sz="1125"/>
            </a:lvl8pPr>
            <a:lvl9pPr marL="2057400" indent="0" algn="ctr">
              <a:buNone/>
              <a:defRPr sz="1125"/>
            </a:lvl9pPr>
          </a:lstStyle>
          <a:p>
            <a:r>
              <a:rPr lang="da-DK"/>
              <a:t>Klik for at redigere undertiteltypografien i masteren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8" name="Title 7"/>
          <p:cNvSpPr>
            <a:spLocks noGrp="1"/>
          </p:cNvSpPr>
          <p:nvPr>
            <p:ph type="title"/>
          </p:nvPr>
        </p:nvSpPr>
        <p:spPr>
          <a:xfrm>
            <a:off x="621103" y="286607"/>
            <a:ext cx="10949794" cy="1450757"/>
          </a:xfrm>
        </p:spPr>
        <p:txBody>
          <a:bodyPr>
            <a:normAutofit/>
          </a:bodyPr>
          <a:lstStyle>
            <a:lvl1pPr>
              <a:defRPr sz="3600" b="1"/>
            </a:lvl1pPr>
          </a:lstStyle>
          <a:p>
            <a:r>
              <a:rPr lang="da-DK"/>
              <a:t>Klik for at redigere titeltypografien i masteren</a:t>
            </a:r>
            <a:endParaRPr lang="en-US" dirty="0"/>
          </a:p>
        </p:txBody>
      </p:sp>
      <p:sp>
        <p:nvSpPr>
          <p:cNvPr id="3" name="Content Placeholder 2"/>
          <p:cNvSpPr>
            <a:spLocks noGrp="1"/>
          </p:cNvSpPr>
          <p:nvPr>
            <p:ph sz="half" idx="1"/>
          </p:nvPr>
        </p:nvSpPr>
        <p:spPr>
          <a:xfrm>
            <a:off x="621103" y="1990724"/>
            <a:ext cx="5115464" cy="3878369"/>
          </a:xfrm>
        </p:spPr>
        <p:txBody>
          <a:bodyPr/>
          <a:lstStyle>
            <a:lvl1pPr>
              <a:defRPr sz="2000"/>
            </a:lvl1pPr>
            <a:lvl2pPr>
              <a:defRPr sz="1800"/>
            </a:lvl2pPr>
            <a:lvl3pPr>
              <a:defRPr sz="1800"/>
            </a:lvl3pPr>
            <a:lvl4pPr>
              <a:defRPr sz="1800"/>
            </a:lvl4pPr>
            <a:lvl5pPr>
              <a:defRPr sz="1800"/>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6455435" y="1990723"/>
            <a:ext cx="5115461" cy="3878371"/>
          </a:xfrm>
        </p:spPr>
        <p:txBody>
          <a:bodyPr/>
          <a:lstStyle>
            <a:lvl1pPr>
              <a:defRPr sz="2000"/>
            </a:lvl1pPr>
            <a:lvl2pPr>
              <a:defRPr sz="1800"/>
            </a:lvl2pPr>
            <a:lvl3pPr>
              <a:defRPr sz="1800"/>
            </a:lvl3pPr>
            <a:lvl4pPr>
              <a:defRPr sz="1800"/>
            </a:lvl4pPr>
            <a:lvl5pPr>
              <a:defRPr sz="1800"/>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a:xfrm>
            <a:off x="621102" y="6459789"/>
            <a:ext cx="2948453"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fld id="{7D9E2A62-1983-43A1-A163-D8AA46534C80}" type="datetimeFigureOut">
              <a:rPr lang="en-US" smtClean="0"/>
              <a:pPr/>
              <a:t>4/7/2026</a:t>
            </a:fld>
            <a:endParaRPr lang="en-US" dirty="0"/>
          </a:p>
        </p:txBody>
      </p:sp>
      <p:sp>
        <p:nvSpPr>
          <p:cNvPr id="6" name="Footer Placeholder 5"/>
          <p:cNvSpPr>
            <a:spLocks noGrp="1"/>
          </p:cNvSpPr>
          <p:nvPr>
            <p:ph type="ftr" sz="quarter" idx="11"/>
          </p:nvPr>
        </p:nvSpPr>
        <p:spPr>
          <a:xfrm>
            <a:off x="3684598" y="6459789"/>
            <a:ext cx="4822804"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endParaRPr lang="en-US" dirty="0"/>
          </a:p>
        </p:txBody>
      </p:sp>
      <p:sp>
        <p:nvSpPr>
          <p:cNvPr id="7" name="Slide Number Placeholder 6"/>
          <p:cNvSpPr>
            <a:spLocks noGrp="1"/>
          </p:cNvSpPr>
          <p:nvPr>
            <p:ph type="sldNum" sz="quarter" idx="12"/>
          </p:nvPr>
        </p:nvSpPr>
        <p:spPr>
          <a:xfrm>
            <a:off x="10116121" y="6458393"/>
            <a:ext cx="1454775"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fld id="{4FAB73BC-B049-4115-A692-8D63A059BFB8}" type="slidenum">
              <a:rPr lang="en-US" smtClean="0"/>
              <a:pPr/>
              <a:t>‹nr.›</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ugerdefineret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3CDC02-A84B-4AD7-9F1A-DA6F89D6CD81}"/>
              </a:ext>
            </a:extLst>
          </p:cNvPr>
          <p:cNvSpPr>
            <a:spLocks noGrp="1"/>
          </p:cNvSpPr>
          <p:nvPr>
            <p:ph type="title"/>
          </p:nvPr>
        </p:nvSpPr>
        <p:spPr/>
        <p:txBody>
          <a:bodyPr>
            <a:normAutofit/>
          </a:bodyPr>
          <a:lstStyle>
            <a:lvl1pPr>
              <a:defRPr sz="3600"/>
            </a:lvl1pPr>
          </a:lstStyle>
          <a:p>
            <a:r>
              <a:rPr lang="da-DK"/>
              <a:t>Klik for at redigere titeltypografien i masteren</a:t>
            </a:r>
            <a:endParaRPr lang="da-DK" dirty="0"/>
          </a:p>
        </p:txBody>
      </p:sp>
      <p:sp>
        <p:nvSpPr>
          <p:cNvPr id="3" name="Content Placeholder 3">
            <a:extLst>
              <a:ext uri="{FF2B5EF4-FFF2-40B4-BE49-F238E27FC236}">
                <a16:creationId xmlns:a16="http://schemas.microsoft.com/office/drawing/2014/main" id="{0BBC51C9-7634-415B-9AC8-A617CDCCC638}"/>
              </a:ext>
            </a:extLst>
          </p:cNvPr>
          <p:cNvSpPr>
            <a:spLocks noGrp="1"/>
          </p:cNvSpPr>
          <p:nvPr>
            <p:ph sz="half" idx="2"/>
          </p:nvPr>
        </p:nvSpPr>
        <p:spPr>
          <a:xfrm>
            <a:off x="621102" y="2004364"/>
            <a:ext cx="10946920" cy="4025500"/>
          </a:xfrm>
        </p:spPr>
        <p:txBody>
          <a:bodyPr/>
          <a:lstStyle>
            <a:lvl1pPr>
              <a:defRPr sz="2000">
                <a:solidFill>
                  <a:srgbClr val="404040"/>
                </a:solidFill>
              </a:defRPr>
            </a:lvl1pPr>
            <a:lvl2pPr>
              <a:defRPr sz="1800">
                <a:solidFill>
                  <a:srgbClr val="404040"/>
                </a:solidFill>
              </a:defRPr>
            </a:lvl2pPr>
            <a:lvl3pPr>
              <a:defRPr sz="1800">
                <a:solidFill>
                  <a:srgbClr val="404040"/>
                </a:solidFill>
              </a:defRPr>
            </a:lvl3pPr>
            <a:lvl4pPr>
              <a:defRPr sz="1800">
                <a:solidFill>
                  <a:srgbClr val="404040"/>
                </a:solidFill>
              </a:defRPr>
            </a:lvl4pPr>
            <a:lvl5pPr>
              <a:defRPr sz="1800">
                <a:solidFill>
                  <a:srgbClr val="404040"/>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Tree>
    <p:extLst>
      <p:ext uri="{BB962C8B-B14F-4D97-AF65-F5344CB8AC3E}">
        <p14:creationId xmlns:p14="http://schemas.microsoft.com/office/powerpoint/2010/main" val="326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Sammenligning">
    <p:bg>
      <p:bgRef idx="1001">
        <a:schemeClr val="bg1"/>
      </p:bgRef>
    </p:bg>
    <p:spTree>
      <p:nvGrpSpPr>
        <p:cNvPr id="1" name=""/>
        <p:cNvGrpSpPr/>
        <p:nvPr/>
      </p:nvGrpSpPr>
      <p:grpSpPr>
        <a:xfrm>
          <a:off x="0" y="0"/>
          <a:ext cx="0" cy="0"/>
          <a:chOff x="0" y="0"/>
          <a:chExt cx="0" cy="0"/>
        </a:xfrm>
      </p:grpSpPr>
      <p:sp>
        <p:nvSpPr>
          <p:cNvPr id="10" name="Title 9"/>
          <p:cNvSpPr>
            <a:spLocks noGrp="1"/>
          </p:cNvSpPr>
          <p:nvPr>
            <p:ph type="title"/>
          </p:nvPr>
        </p:nvSpPr>
        <p:spPr>
          <a:xfrm>
            <a:off x="612475" y="286607"/>
            <a:ext cx="10955548" cy="1450757"/>
          </a:xfrm>
        </p:spPr>
        <p:txBody>
          <a:bodyPr>
            <a:normAutofit/>
          </a:bodyPr>
          <a:lstStyle>
            <a:lvl1pPr>
              <a:defRPr sz="3600"/>
            </a:lvl1pPr>
          </a:lstStyle>
          <a:p>
            <a:r>
              <a:rPr lang="da-DK"/>
              <a:t>Klik for at redigere titeltypografien i masteren</a:t>
            </a:r>
            <a:endParaRPr lang="en-US" dirty="0"/>
          </a:p>
        </p:txBody>
      </p:sp>
      <p:sp>
        <p:nvSpPr>
          <p:cNvPr id="3" name="Text Placeholder 2"/>
          <p:cNvSpPr>
            <a:spLocks noGrp="1"/>
          </p:cNvSpPr>
          <p:nvPr>
            <p:ph type="body" idx="1" hasCustomPrompt="1"/>
          </p:nvPr>
        </p:nvSpPr>
        <p:spPr>
          <a:xfrm>
            <a:off x="612476" y="1846052"/>
            <a:ext cx="5118340" cy="736282"/>
          </a:xfrm>
        </p:spPr>
        <p:txBody>
          <a:bodyPr lIns="91440" rIns="91440" anchor="ctr">
            <a:normAutofit/>
          </a:bodyPr>
          <a:lstStyle>
            <a:lvl1pPr marL="0" indent="0">
              <a:buNone/>
              <a:defRPr sz="1800" b="1" cap="all" spc="300" baseline="0">
                <a:solidFill>
                  <a:schemeClr val="tx2"/>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a-DK" dirty="0"/>
              <a:t>KLIK HER FOR AT REDIGERE</a:t>
            </a:r>
          </a:p>
        </p:txBody>
      </p:sp>
      <p:sp>
        <p:nvSpPr>
          <p:cNvPr id="4" name="Content Placeholder 3"/>
          <p:cNvSpPr>
            <a:spLocks noGrp="1"/>
          </p:cNvSpPr>
          <p:nvPr>
            <p:ph sz="half" idx="2"/>
          </p:nvPr>
        </p:nvSpPr>
        <p:spPr>
          <a:xfrm>
            <a:off x="612475" y="2582334"/>
            <a:ext cx="5118339" cy="3378200"/>
          </a:xfrm>
        </p:spPr>
        <p:txBody>
          <a:bodyPr/>
          <a:lstStyle>
            <a:lvl1pPr>
              <a:defRPr sz="2000"/>
            </a:lvl1pPr>
            <a:lvl2pPr>
              <a:defRPr sz="1800"/>
            </a:lvl2pPr>
            <a:lvl3pPr>
              <a:defRPr sz="1800"/>
            </a:lvl3pPr>
            <a:lvl4pPr>
              <a:defRPr sz="1800"/>
            </a:lvl4pPr>
            <a:lvl5pPr>
              <a:defRPr sz="1800"/>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hasCustomPrompt="1"/>
          </p:nvPr>
        </p:nvSpPr>
        <p:spPr>
          <a:xfrm>
            <a:off x="6461184" y="1846052"/>
            <a:ext cx="5118340" cy="736282"/>
          </a:xfrm>
        </p:spPr>
        <p:txBody>
          <a:bodyPr lIns="91440" rIns="91440" anchor="ctr">
            <a:normAutofit/>
          </a:bodyPr>
          <a:lstStyle>
            <a:lvl1pPr marL="0" indent="0">
              <a:buNone/>
              <a:defRPr sz="1800" b="1" cap="all" spc="300" baseline="0">
                <a:solidFill>
                  <a:schemeClr val="tx2"/>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a-DK" dirty="0"/>
              <a:t>Klik for at REDIGERE</a:t>
            </a:r>
          </a:p>
        </p:txBody>
      </p:sp>
      <p:sp>
        <p:nvSpPr>
          <p:cNvPr id="6" name="Content Placeholder 5"/>
          <p:cNvSpPr>
            <a:spLocks noGrp="1"/>
          </p:cNvSpPr>
          <p:nvPr>
            <p:ph sz="quarter" idx="4"/>
          </p:nvPr>
        </p:nvSpPr>
        <p:spPr>
          <a:xfrm>
            <a:off x="6461184" y="2582334"/>
            <a:ext cx="5118339" cy="3378200"/>
          </a:xfrm>
        </p:spPr>
        <p:txBody>
          <a:bodyPr/>
          <a:lstStyle>
            <a:lvl1pPr>
              <a:defRPr sz="2000">
                <a:solidFill>
                  <a:srgbClr val="404040"/>
                </a:solidFill>
              </a:defRPr>
            </a:lvl1pPr>
            <a:lvl2pPr>
              <a:defRPr sz="1800">
                <a:solidFill>
                  <a:srgbClr val="404040"/>
                </a:solidFill>
              </a:defRPr>
            </a:lvl2pPr>
            <a:lvl3pPr>
              <a:defRPr sz="1800">
                <a:solidFill>
                  <a:srgbClr val="404040"/>
                </a:solidFill>
              </a:defRPr>
            </a:lvl3pPr>
            <a:lvl4pPr>
              <a:defRPr sz="1800">
                <a:solidFill>
                  <a:srgbClr val="404040"/>
                </a:solidFill>
              </a:defRPr>
            </a:lvl4pPr>
            <a:lvl5pPr>
              <a:defRPr sz="1800">
                <a:solidFill>
                  <a:srgbClr val="404040"/>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Sammenligning">
    <p:spTree>
      <p:nvGrpSpPr>
        <p:cNvPr id="1" name=""/>
        <p:cNvGrpSpPr/>
        <p:nvPr/>
      </p:nvGrpSpPr>
      <p:grpSpPr>
        <a:xfrm>
          <a:off x="0" y="0"/>
          <a:ext cx="0" cy="0"/>
          <a:chOff x="0" y="0"/>
          <a:chExt cx="0" cy="0"/>
        </a:xfrm>
      </p:grpSpPr>
      <p:sp>
        <p:nvSpPr>
          <p:cNvPr id="10" name="Title 9"/>
          <p:cNvSpPr>
            <a:spLocks noGrp="1"/>
          </p:cNvSpPr>
          <p:nvPr>
            <p:ph type="title"/>
          </p:nvPr>
        </p:nvSpPr>
        <p:spPr>
          <a:xfrm>
            <a:off x="612475" y="286607"/>
            <a:ext cx="10955548" cy="1450757"/>
          </a:xfrm>
        </p:spPr>
        <p:txBody>
          <a:bodyPr>
            <a:normAutofit/>
          </a:bodyPr>
          <a:lstStyle>
            <a:lvl1pPr>
              <a:defRPr sz="3600"/>
            </a:lvl1pPr>
          </a:lstStyle>
          <a:p>
            <a:r>
              <a:rPr lang="da-DK"/>
              <a:t>Klik for at redigere titeltypografien i masteren</a:t>
            </a:r>
            <a:endParaRPr lang="en-US" dirty="0"/>
          </a:p>
        </p:txBody>
      </p:sp>
      <p:sp>
        <p:nvSpPr>
          <p:cNvPr id="3" name="Text Placeholder 2"/>
          <p:cNvSpPr>
            <a:spLocks noGrp="1"/>
          </p:cNvSpPr>
          <p:nvPr>
            <p:ph type="body" idx="1" hasCustomPrompt="1"/>
          </p:nvPr>
        </p:nvSpPr>
        <p:spPr>
          <a:xfrm>
            <a:off x="612476" y="1846052"/>
            <a:ext cx="5118340" cy="736282"/>
          </a:xfrm>
        </p:spPr>
        <p:txBody>
          <a:bodyPr lIns="91440" rIns="91440" anchor="ctr">
            <a:normAutofit/>
          </a:bodyPr>
          <a:lstStyle>
            <a:lvl1pPr marL="0" indent="0">
              <a:buNone/>
              <a:defRPr sz="1800" b="1" cap="all" spc="300" baseline="0">
                <a:solidFill>
                  <a:schemeClr val="tx2"/>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a-DK" dirty="0"/>
              <a:t>KLIK HER FOR AT REDIGERE</a:t>
            </a:r>
          </a:p>
        </p:txBody>
      </p:sp>
      <p:sp>
        <p:nvSpPr>
          <p:cNvPr id="4" name="Content Placeholder 3"/>
          <p:cNvSpPr>
            <a:spLocks noGrp="1"/>
          </p:cNvSpPr>
          <p:nvPr>
            <p:ph sz="half" idx="2"/>
          </p:nvPr>
        </p:nvSpPr>
        <p:spPr>
          <a:xfrm>
            <a:off x="612475" y="2582334"/>
            <a:ext cx="5118339" cy="3378200"/>
          </a:xfrm>
        </p:spPr>
        <p:txBody>
          <a:bodyPr/>
          <a:lstStyle>
            <a:lvl1pPr>
              <a:defRPr sz="2000">
                <a:solidFill>
                  <a:srgbClr val="404040"/>
                </a:solidFill>
              </a:defRPr>
            </a:lvl1pPr>
            <a:lvl2pPr>
              <a:defRPr sz="1800">
                <a:solidFill>
                  <a:srgbClr val="404040"/>
                </a:solidFill>
              </a:defRPr>
            </a:lvl2pPr>
            <a:lvl3pPr>
              <a:defRPr sz="1800">
                <a:solidFill>
                  <a:srgbClr val="404040"/>
                </a:solidFill>
              </a:defRPr>
            </a:lvl3pPr>
            <a:lvl4pPr>
              <a:defRPr sz="1800">
                <a:solidFill>
                  <a:srgbClr val="404040"/>
                </a:solidFill>
              </a:defRPr>
            </a:lvl4pPr>
            <a:lvl5pPr>
              <a:defRPr sz="1800">
                <a:solidFill>
                  <a:srgbClr val="404040"/>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hasCustomPrompt="1"/>
          </p:nvPr>
        </p:nvSpPr>
        <p:spPr>
          <a:xfrm>
            <a:off x="6461184" y="1846052"/>
            <a:ext cx="5118340" cy="736282"/>
          </a:xfrm>
        </p:spPr>
        <p:txBody>
          <a:bodyPr lIns="91440" rIns="91440" anchor="ctr">
            <a:normAutofit/>
          </a:bodyPr>
          <a:lstStyle>
            <a:lvl1pPr marL="0" indent="0">
              <a:buNone/>
              <a:defRPr sz="1800" b="1" cap="all" spc="300" baseline="0">
                <a:solidFill>
                  <a:schemeClr val="tx2"/>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da-DK" dirty="0"/>
              <a:t>KLIK HER FOR AT REDIGERE</a:t>
            </a:r>
          </a:p>
        </p:txBody>
      </p:sp>
      <p:sp>
        <p:nvSpPr>
          <p:cNvPr id="6" name="Content Placeholder 5"/>
          <p:cNvSpPr>
            <a:spLocks noGrp="1"/>
          </p:cNvSpPr>
          <p:nvPr>
            <p:ph sz="quarter" idx="4"/>
          </p:nvPr>
        </p:nvSpPr>
        <p:spPr>
          <a:xfrm>
            <a:off x="6461184" y="2582334"/>
            <a:ext cx="5118339" cy="3378200"/>
          </a:xfrm>
        </p:spPr>
        <p:txBody>
          <a:bodyPr/>
          <a:lstStyle>
            <a:lvl1pPr>
              <a:defRPr sz="2000">
                <a:solidFill>
                  <a:srgbClr val="404040"/>
                </a:solidFill>
              </a:defRPr>
            </a:lvl1pPr>
            <a:lvl2pPr>
              <a:defRPr sz="1800">
                <a:solidFill>
                  <a:srgbClr val="404040"/>
                </a:solidFill>
              </a:defRPr>
            </a:lvl2pPr>
            <a:lvl3pPr>
              <a:defRPr sz="1800">
                <a:solidFill>
                  <a:srgbClr val="404040"/>
                </a:solidFill>
              </a:defRPr>
            </a:lvl3pPr>
            <a:lvl4pPr>
              <a:defRPr sz="1800">
                <a:solidFill>
                  <a:srgbClr val="404040"/>
                </a:solidFill>
              </a:defRPr>
            </a:lvl4pPr>
            <a:lvl5pPr>
              <a:defRPr sz="1800">
                <a:solidFill>
                  <a:srgbClr val="404040"/>
                </a:solidFill>
              </a:defRPr>
            </a:lvl5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Tree>
    <p:extLst>
      <p:ext uri="{BB962C8B-B14F-4D97-AF65-F5344CB8AC3E}">
        <p14:creationId xmlns:p14="http://schemas.microsoft.com/office/powerpoint/2010/main" val="333469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21102" y="6475646"/>
            <a:ext cx="2180701" cy="365125"/>
          </a:xfrm>
          <a:prstGeom prst="rect">
            <a:avLst/>
          </a:prstGeom>
        </p:spPr>
        <p:txBody>
          <a:bodyPr/>
          <a:lstStyle>
            <a:lvl1pPr>
              <a:defRPr sz="1200">
                <a:latin typeface="Calibri" panose="020F0502020204030204" pitchFamily="34" charset="0"/>
                <a:cs typeface="Calibri" panose="020F0502020204030204" pitchFamily="34" charset="0"/>
              </a:defRPr>
            </a:lvl1pPr>
          </a:lstStyle>
          <a:p>
            <a:fld id="{FD816C96-82A1-4D77-8ADA-627AC6FE3D65}" type="datetimeFigureOut">
              <a:rPr lang="en-US" smtClean="0"/>
              <a:pPr/>
              <a:t>4/7/2026</a:t>
            </a:fld>
            <a:endParaRPr lang="en-US" dirty="0"/>
          </a:p>
        </p:txBody>
      </p:sp>
      <p:sp>
        <p:nvSpPr>
          <p:cNvPr id="4" name="Footer Placeholder 3"/>
          <p:cNvSpPr>
            <a:spLocks noGrp="1"/>
          </p:cNvSpPr>
          <p:nvPr>
            <p:ph type="ftr" sz="quarter" idx="11"/>
          </p:nvPr>
        </p:nvSpPr>
        <p:spPr>
          <a:xfrm>
            <a:off x="3686187" y="6459789"/>
            <a:ext cx="4822804" cy="365125"/>
          </a:xfrm>
          <a:prstGeom prst="rect">
            <a:avLst/>
          </a:prstGeom>
        </p:spPr>
        <p:txBody>
          <a:bodyPr/>
          <a:lstStyle>
            <a:lvl1pPr>
              <a:defRPr sz="1200">
                <a:latin typeface="Calibri" panose="020F0502020204030204" pitchFamily="34" charset="0"/>
                <a:cs typeface="Calibri" panose="020F0502020204030204" pitchFamily="34" charset="0"/>
              </a:defRPr>
            </a:lvl1pPr>
          </a:lstStyle>
          <a:p>
            <a:endParaRPr lang="en-US" dirty="0"/>
          </a:p>
        </p:txBody>
      </p:sp>
      <p:sp>
        <p:nvSpPr>
          <p:cNvPr id="5" name="Slide Number Placeholder 4"/>
          <p:cNvSpPr>
            <a:spLocks noGrp="1"/>
          </p:cNvSpPr>
          <p:nvPr>
            <p:ph type="sldNum" sz="quarter" idx="12"/>
          </p:nvPr>
        </p:nvSpPr>
        <p:spPr>
          <a:xfrm>
            <a:off x="9900461" y="6459789"/>
            <a:ext cx="1667561" cy="365125"/>
          </a:xfrm>
          <a:prstGeom prst="rect">
            <a:avLst/>
          </a:prstGeom>
        </p:spPr>
        <p:txBody>
          <a:bodyPr/>
          <a:lstStyle>
            <a:lvl1pPr>
              <a:defRPr sz="1200">
                <a:latin typeface="Calibri" panose="020F0502020204030204" pitchFamily="34" charset="0"/>
                <a:cs typeface="Calibri" panose="020F0502020204030204" pitchFamily="34" charset="0"/>
              </a:defRPr>
            </a:lvl1pPr>
          </a:lstStyle>
          <a:p>
            <a:fld id="{4FAB73BC-B049-4115-A692-8D63A059BFB8}" type="slidenum">
              <a:rPr lang="en-US" smtClean="0"/>
              <a:pPr/>
              <a:t>‹nr.›</a:t>
            </a:fld>
            <a:endParaRPr lang="en-US" dirty="0"/>
          </a:p>
        </p:txBody>
      </p:sp>
      <p:sp>
        <p:nvSpPr>
          <p:cNvPr id="6" name="Titel 5">
            <a:extLst>
              <a:ext uri="{FF2B5EF4-FFF2-40B4-BE49-F238E27FC236}">
                <a16:creationId xmlns:a16="http://schemas.microsoft.com/office/drawing/2014/main" id="{3FA7BE0D-4273-4445-A3AF-9D7CC582EC2F}"/>
              </a:ext>
            </a:extLst>
          </p:cNvPr>
          <p:cNvSpPr>
            <a:spLocks noGrp="1"/>
          </p:cNvSpPr>
          <p:nvPr>
            <p:ph type="title"/>
          </p:nvPr>
        </p:nvSpPr>
        <p:spPr/>
        <p:txBody>
          <a:bodyPr>
            <a:normAutofit/>
          </a:bodyPr>
          <a:lstStyle>
            <a:lvl1pPr>
              <a:defRPr sz="3600"/>
            </a:lvl1pPr>
          </a:lstStyle>
          <a:p>
            <a:r>
              <a:rPr lang="da-DK"/>
              <a:t>Klik for at redigere titeltypografien i masteren</a:t>
            </a:r>
            <a:endParaRPr lang="da-DK"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609601" y="6459789"/>
            <a:ext cx="2959954"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fld id="{1D102C1E-28F2-47E9-802D-339E64E2F920}" type="datetimeFigureOut">
              <a:rPr lang="en-US" smtClean="0"/>
              <a:pPr/>
              <a:t>4/7/2026</a:t>
            </a:fld>
            <a:endParaRPr lang="en-US" dirty="0"/>
          </a:p>
        </p:txBody>
      </p:sp>
      <p:sp>
        <p:nvSpPr>
          <p:cNvPr id="8" name="Footer Placeholder 7"/>
          <p:cNvSpPr>
            <a:spLocks noGrp="1"/>
          </p:cNvSpPr>
          <p:nvPr>
            <p:ph type="ftr" sz="quarter" idx="11"/>
          </p:nvPr>
        </p:nvSpPr>
        <p:spPr>
          <a:xfrm>
            <a:off x="3686187" y="6459789"/>
            <a:ext cx="4822804"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endParaRPr lang="en-US" dirty="0"/>
          </a:p>
        </p:txBody>
      </p:sp>
      <p:sp>
        <p:nvSpPr>
          <p:cNvPr id="9" name="Slide Number Placeholder 8"/>
          <p:cNvSpPr>
            <a:spLocks noGrp="1"/>
          </p:cNvSpPr>
          <p:nvPr>
            <p:ph type="sldNum" sz="quarter" idx="12"/>
          </p:nvPr>
        </p:nvSpPr>
        <p:spPr>
          <a:xfrm>
            <a:off x="10071911" y="6459789"/>
            <a:ext cx="1510488" cy="365125"/>
          </a:xfrm>
          <a:prstGeom prst="rect">
            <a:avLst/>
          </a:prstGeom>
        </p:spPr>
        <p:txBody>
          <a:bodyPr/>
          <a:lstStyle>
            <a:lvl1pPr>
              <a:defRPr sz="1200">
                <a:solidFill>
                  <a:srgbClr val="404040"/>
                </a:solidFill>
                <a:latin typeface="Calibri" panose="020F0502020204030204" pitchFamily="34" charset="0"/>
                <a:cs typeface="Calibri" panose="020F0502020204030204" pitchFamily="34" charset="0"/>
              </a:defRPr>
            </a:lvl1pPr>
          </a:lstStyle>
          <a:p>
            <a:fld id="{4FAB73BC-B049-4115-A692-8D63A059BFB8}" type="slidenum">
              <a:rPr lang="en-US" smtClean="0"/>
              <a:pPr/>
              <a:t>‹nr.›</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llede med billedtekst">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 y="1073365"/>
            <a:ext cx="12191985" cy="5051663"/>
          </a:xfrm>
          <a:solidFill>
            <a:schemeClr val="bg1"/>
          </a:solidFill>
        </p:spPr>
        <p:txBody>
          <a:bodyPr lIns="457200" tIns="457200" anchor="t">
            <a:normAutofit/>
          </a:bodyPr>
          <a:lstStyle>
            <a:lvl1pPr marL="0" indent="0">
              <a:buNone/>
              <a:defRPr sz="2000">
                <a:solidFill>
                  <a:srgbClr val="404040"/>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da-DK"/>
              <a:t>Klik på ikonet for at tilføje et billede</a:t>
            </a:r>
            <a:endParaRPr lang="en-US" dirty="0"/>
          </a:p>
        </p:txBody>
      </p:sp>
      <p:sp>
        <p:nvSpPr>
          <p:cNvPr id="11" name="Title Placeholder 1"/>
          <p:cNvSpPr>
            <a:spLocks noGrp="1"/>
          </p:cNvSpPr>
          <p:nvPr>
            <p:ph type="title" hasCustomPrompt="1"/>
          </p:nvPr>
        </p:nvSpPr>
        <p:spPr>
          <a:xfrm>
            <a:off x="619125" y="1"/>
            <a:ext cx="10536555" cy="787241"/>
          </a:xfrm>
          <a:prstGeom prst="rect">
            <a:avLst/>
          </a:prstGeom>
        </p:spPr>
        <p:txBody>
          <a:bodyPr vert="horz" lIns="91440" tIns="45720" rIns="91440" bIns="45720" rtlCol="0" anchor="b">
            <a:normAutofit/>
          </a:bodyPr>
          <a:lstStyle>
            <a:lvl1pPr>
              <a:defRPr sz="3600"/>
            </a:lvl1pPr>
          </a:lstStyle>
          <a:p>
            <a:r>
              <a:rPr lang="da-DK" dirty="0"/>
              <a:t>Klik her for at redigere titel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1102" y="286607"/>
            <a:ext cx="10946920" cy="1450757"/>
          </a:xfrm>
          <a:prstGeom prst="rect">
            <a:avLst/>
          </a:prstGeom>
        </p:spPr>
        <p:txBody>
          <a:bodyPr vert="horz" lIns="91440" tIns="45720" rIns="91440" bIns="45720" rtlCol="0" anchor="b">
            <a:normAutofit/>
          </a:bodyPr>
          <a:lstStyle/>
          <a:p>
            <a:r>
              <a:rPr lang="da-DK" dirty="0"/>
              <a:t>Klik for at redigere i master</a:t>
            </a:r>
            <a:endParaRPr lang="en-US" dirty="0"/>
          </a:p>
        </p:txBody>
      </p:sp>
      <p:sp>
        <p:nvSpPr>
          <p:cNvPr id="3" name="Text Placeholder 2"/>
          <p:cNvSpPr>
            <a:spLocks noGrp="1"/>
          </p:cNvSpPr>
          <p:nvPr>
            <p:ph type="body" idx="1"/>
          </p:nvPr>
        </p:nvSpPr>
        <p:spPr>
          <a:xfrm>
            <a:off x="621101" y="2023970"/>
            <a:ext cx="10946921" cy="3845123"/>
          </a:xfrm>
          <a:prstGeom prst="rect">
            <a:avLst/>
          </a:prstGeom>
        </p:spPr>
        <p:txBody>
          <a:bodyPr vert="horz" lIns="0" tIns="45720" rIns="0" bIns="45720" rtlCol="0">
            <a:normAutofit/>
          </a:bodyPr>
          <a:lstStyle/>
          <a:p>
            <a:pPr lvl="0"/>
            <a:r>
              <a:rPr lang="da-DK" dirty="0"/>
              <a:t>Rediger typografien i masterens</a:t>
            </a:r>
          </a:p>
          <a:p>
            <a:pPr lvl="1"/>
            <a:r>
              <a:rPr lang="da-DK" dirty="0"/>
              <a:t>Andet niveau</a:t>
            </a:r>
          </a:p>
          <a:p>
            <a:pPr lvl="2"/>
            <a:r>
              <a:rPr lang="da-DK" dirty="0"/>
              <a:t>Tredje niveau</a:t>
            </a:r>
          </a:p>
          <a:p>
            <a:pPr lvl="3"/>
            <a:r>
              <a:rPr lang="da-DK" dirty="0"/>
              <a:t>Fjerde niveau</a:t>
            </a:r>
          </a:p>
          <a:p>
            <a:pPr lvl="4"/>
            <a:r>
              <a:rPr lang="da-DK" dirty="0"/>
              <a:t>Femte niveau</a:t>
            </a:r>
            <a:endParaRPr lang="en-US" dirty="0"/>
          </a:p>
        </p:txBody>
      </p:sp>
      <p:pic>
        <p:nvPicPr>
          <p:cNvPr id="5" name="Billede 4">
            <a:extLst>
              <a:ext uri="{FF2B5EF4-FFF2-40B4-BE49-F238E27FC236}">
                <a16:creationId xmlns:a16="http://schemas.microsoft.com/office/drawing/2014/main" id="{CD81E092-EC52-1647-B581-7CA0F5BC67C9}"/>
              </a:ext>
            </a:extLst>
          </p:cNvPr>
          <p:cNvPicPr>
            <a:picLocks noChangeAspect="1"/>
          </p:cNvPicPr>
          <p:nvPr userDrawn="1"/>
        </p:nvPicPr>
        <p:blipFill>
          <a:blip r:embed="rId10"/>
          <a:stretch>
            <a:fillRect/>
          </a:stretch>
        </p:blipFill>
        <p:spPr>
          <a:xfrm>
            <a:off x="621102" y="6319097"/>
            <a:ext cx="1676400" cy="88900"/>
          </a:xfrm>
          <a:prstGeom prst="rect">
            <a:avLst/>
          </a:prstGeom>
        </p:spPr>
      </p:pic>
      <p:pic>
        <p:nvPicPr>
          <p:cNvPr id="7" name="Billede 6">
            <a:extLst>
              <a:ext uri="{FF2B5EF4-FFF2-40B4-BE49-F238E27FC236}">
                <a16:creationId xmlns:a16="http://schemas.microsoft.com/office/drawing/2014/main" id="{CD159632-D2F8-47DC-B8C1-49C3A688608E}"/>
              </a:ext>
            </a:extLst>
          </p:cNvPr>
          <p:cNvPicPr>
            <a:picLocks noChangeAspect="1"/>
          </p:cNvPicPr>
          <p:nvPr userDrawn="1"/>
        </p:nvPicPr>
        <p:blipFill>
          <a:blip r:embed="rId11"/>
          <a:stretch>
            <a:fillRect/>
          </a:stretch>
        </p:blipFill>
        <p:spPr>
          <a:xfrm>
            <a:off x="9372246" y="286607"/>
            <a:ext cx="2195776" cy="57022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2" r:id="rId2"/>
    <p:sldLayoutId id="2147483659" r:id="rId3"/>
    <p:sldLayoutId id="2147483653" r:id="rId4"/>
    <p:sldLayoutId id="2147483658" r:id="rId5"/>
    <p:sldLayoutId id="2147483654" r:id="rId6"/>
    <p:sldLayoutId id="2147483655" r:id="rId7"/>
    <p:sldLayoutId id="2147483657" r:id="rId8"/>
  </p:sldLayoutIdLst>
  <p:hf sldNum="0" hdr="0" ftr="0" dt="0"/>
  <p:txStyles>
    <p:titleStyle>
      <a:lvl1pPr algn="l" defTabSz="514350" rtl="0" eaLnBrk="1" latinLnBrk="0" hangingPunct="1">
        <a:lnSpc>
          <a:spcPct val="85000"/>
        </a:lnSpc>
        <a:spcBef>
          <a:spcPct val="0"/>
        </a:spcBef>
        <a:buNone/>
        <a:defRPr sz="3600" b="1" kern="1200" spc="-28" baseline="0">
          <a:solidFill>
            <a:schemeClr val="tx1">
              <a:lumMod val="75000"/>
              <a:lumOff val="25000"/>
            </a:schemeClr>
          </a:solidFill>
          <a:latin typeface="Calibri" panose="020F0502020204030204" pitchFamily="34" charset="0"/>
          <a:ea typeface="+mj-ea"/>
          <a:cs typeface="Calibri" panose="020F0502020204030204" pitchFamily="34" charset="0"/>
        </a:defRPr>
      </a:lvl1pPr>
    </p:titleStyle>
    <p:bodyStyle>
      <a:lvl1pPr marL="51435" indent="-51435" algn="l" defTabSz="514350" rtl="0" eaLnBrk="1" latinLnBrk="0" hangingPunct="1">
        <a:lnSpc>
          <a:spcPct val="150000"/>
        </a:lnSpc>
        <a:spcBef>
          <a:spcPts val="675"/>
        </a:spcBef>
        <a:spcAft>
          <a:spcPts val="113"/>
        </a:spcAft>
        <a:buClr>
          <a:schemeClr val="accent1"/>
        </a:buClr>
        <a:buSzPct val="100000"/>
        <a:buFont typeface="Calibri" panose="020F0502020204030204" pitchFamily="34" charset="0"/>
        <a:buChar char=" "/>
        <a:defRPr sz="2000" b="1" kern="1200">
          <a:solidFill>
            <a:srgbClr val="404040"/>
          </a:solidFill>
          <a:latin typeface="Calibri" panose="020F0502020204030204" pitchFamily="34" charset="0"/>
          <a:ea typeface="+mn-ea"/>
          <a:cs typeface="Calibri" panose="020F0502020204030204" pitchFamily="34" charset="0"/>
        </a:defRPr>
      </a:lvl1pPr>
      <a:lvl2pPr marL="266700" indent="-153988" algn="l" defTabSz="514350" rtl="0" eaLnBrk="1" latinLnBrk="0" hangingPunct="1">
        <a:lnSpc>
          <a:spcPct val="150000"/>
        </a:lnSpc>
        <a:spcBef>
          <a:spcPts val="113"/>
        </a:spcBef>
        <a:spcAft>
          <a:spcPts val="225"/>
        </a:spcAft>
        <a:buClr>
          <a:schemeClr val="accent1"/>
        </a:buClr>
        <a:buSzPct val="100000"/>
        <a:buFont typeface="Arial" panose="020B0604020202020204" pitchFamily="34" charset="0"/>
        <a:buChar char="•"/>
        <a:defRPr sz="1800" kern="1200">
          <a:solidFill>
            <a:srgbClr val="404040"/>
          </a:solidFill>
          <a:latin typeface="Calibri" panose="020F0502020204030204" pitchFamily="34" charset="0"/>
          <a:ea typeface="+mn-ea"/>
          <a:cs typeface="Calibri" panose="020F0502020204030204" pitchFamily="34" charset="0"/>
        </a:defRPr>
      </a:lvl2pPr>
      <a:lvl3pPr marL="449263" indent="-182563" algn="l" defTabSz="514350" rtl="0" eaLnBrk="1" latinLnBrk="0" hangingPunct="1">
        <a:lnSpc>
          <a:spcPct val="150000"/>
        </a:lnSpc>
        <a:spcBef>
          <a:spcPts val="113"/>
        </a:spcBef>
        <a:spcAft>
          <a:spcPts val="225"/>
        </a:spcAft>
        <a:buClr>
          <a:schemeClr val="accent1"/>
        </a:buClr>
        <a:buSzPct val="100000"/>
        <a:buFont typeface="Arial" panose="020B0604020202020204" pitchFamily="34" charset="0"/>
        <a:buChar char="•"/>
        <a:defRPr sz="1800" kern="1200">
          <a:solidFill>
            <a:srgbClr val="404040"/>
          </a:solidFill>
          <a:latin typeface="Calibri" panose="020F0502020204030204" pitchFamily="34" charset="0"/>
          <a:ea typeface="+mn-ea"/>
          <a:cs typeface="Calibri" panose="020F0502020204030204" pitchFamily="34" charset="0"/>
        </a:defRPr>
      </a:lvl3pPr>
      <a:lvl4pPr marL="630238" indent="-180975" algn="l" defTabSz="514350" rtl="0" eaLnBrk="1" latinLnBrk="0" hangingPunct="1">
        <a:lnSpc>
          <a:spcPct val="150000"/>
        </a:lnSpc>
        <a:spcBef>
          <a:spcPts val="113"/>
        </a:spcBef>
        <a:spcAft>
          <a:spcPts val="225"/>
        </a:spcAft>
        <a:buClr>
          <a:schemeClr val="accent1"/>
        </a:buClr>
        <a:buSzPct val="100000"/>
        <a:buFont typeface="Arial" panose="020B0604020202020204" pitchFamily="34" charset="0"/>
        <a:buChar char="•"/>
        <a:defRPr sz="1800" kern="1200">
          <a:solidFill>
            <a:srgbClr val="404040"/>
          </a:solidFill>
          <a:latin typeface="Calibri" panose="020F0502020204030204" pitchFamily="34" charset="0"/>
          <a:ea typeface="+mn-ea"/>
          <a:cs typeface="Calibri" panose="020F0502020204030204" pitchFamily="34" charset="0"/>
        </a:defRPr>
      </a:lvl4pPr>
      <a:lvl5pPr marL="801688" indent="-171450" algn="l" defTabSz="514350" rtl="0" eaLnBrk="1" latinLnBrk="0" hangingPunct="1">
        <a:lnSpc>
          <a:spcPct val="150000"/>
        </a:lnSpc>
        <a:spcBef>
          <a:spcPts val="113"/>
        </a:spcBef>
        <a:spcAft>
          <a:spcPts val="225"/>
        </a:spcAft>
        <a:buClr>
          <a:schemeClr val="accent1"/>
        </a:buClr>
        <a:buSzPct val="100000"/>
        <a:buFont typeface="Arial" panose="020B0604020202020204" pitchFamily="34" charset="0"/>
        <a:buChar char="•"/>
        <a:defRPr sz="1800" kern="1200">
          <a:solidFill>
            <a:srgbClr val="404040"/>
          </a:solidFill>
          <a:latin typeface="Calibri" panose="020F0502020204030204" pitchFamily="34" charset="0"/>
          <a:ea typeface="+mn-ea"/>
          <a:cs typeface="Calibri" panose="020F0502020204030204" pitchFamily="34" charset="0"/>
        </a:defRPr>
      </a:lvl5pPr>
      <a:lvl6pPr marL="618750" indent="-128588" algn="l" defTabSz="514350" rtl="0" eaLnBrk="1" latinLnBrk="0" hangingPunct="1">
        <a:lnSpc>
          <a:spcPct val="90000"/>
        </a:lnSpc>
        <a:spcBef>
          <a:spcPts val="113"/>
        </a:spcBef>
        <a:spcAft>
          <a:spcPts val="225"/>
        </a:spcAft>
        <a:buClr>
          <a:schemeClr val="accent1"/>
        </a:buClr>
        <a:buFont typeface="Calibri" pitchFamily="34" charset="0"/>
        <a:buChar char="◦"/>
        <a:defRPr sz="788" kern="1200">
          <a:solidFill>
            <a:schemeClr val="tx1">
              <a:lumMod val="75000"/>
              <a:lumOff val="25000"/>
            </a:schemeClr>
          </a:solidFill>
          <a:latin typeface="+mn-lt"/>
          <a:ea typeface="+mn-ea"/>
          <a:cs typeface="+mn-cs"/>
        </a:defRPr>
      </a:lvl6pPr>
      <a:lvl7pPr marL="731250" indent="-128588" algn="l" defTabSz="514350" rtl="0" eaLnBrk="1" latinLnBrk="0" hangingPunct="1">
        <a:lnSpc>
          <a:spcPct val="90000"/>
        </a:lnSpc>
        <a:spcBef>
          <a:spcPts val="113"/>
        </a:spcBef>
        <a:spcAft>
          <a:spcPts val="225"/>
        </a:spcAft>
        <a:buClr>
          <a:schemeClr val="accent1"/>
        </a:buClr>
        <a:buFont typeface="Calibri" pitchFamily="34" charset="0"/>
        <a:buChar char="◦"/>
        <a:defRPr sz="788" kern="1200">
          <a:solidFill>
            <a:schemeClr val="tx1">
              <a:lumMod val="75000"/>
              <a:lumOff val="25000"/>
            </a:schemeClr>
          </a:solidFill>
          <a:latin typeface="+mn-lt"/>
          <a:ea typeface="+mn-ea"/>
          <a:cs typeface="+mn-cs"/>
        </a:defRPr>
      </a:lvl7pPr>
      <a:lvl8pPr marL="843750" indent="-128588" algn="l" defTabSz="514350" rtl="0" eaLnBrk="1" latinLnBrk="0" hangingPunct="1">
        <a:lnSpc>
          <a:spcPct val="90000"/>
        </a:lnSpc>
        <a:spcBef>
          <a:spcPts val="113"/>
        </a:spcBef>
        <a:spcAft>
          <a:spcPts val="225"/>
        </a:spcAft>
        <a:buClr>
          <a:schemeClr val="accent1"/>
        </a:buClr>
        <a:buFont typeface="Calibri" pitchFamily="34" charset="0"/>
        <a:buChar char="◦"/>
        <a:defRPr sz="788" kern="1200">
          <a:solidFill>
            <a:schemeClr val="tx1">
              <a:lumMod val="75000"/>
              <a:lumOff val="25000"/>
            </a:schemeClr>
          </a:solidFill>
          <a:latin typeface="+mn-lt"/>
          <a:ea typeface="+mn-ea"/>
          <a:cs typeface="+mn-cs"/>
        </a:defRPr>
      </a:lvl8pPr>
      <a:lvl9pPr marL="956250" indent="-128588" algn="l" defTabSz="514350" rtl="0" eaLnBrk="1" latinLnBrk="0" hangingPunct="1">
        <a:lnSpc>
          <a:spcPct val="90000"/>
        </a:lnSpc>
        <a:spcBef>
          <a:spcPts val="113"/>
        </a:spcBef>
        <a:spcAft>
          <a:spcPts val="225"/>
        </a:spcAft>
        <a:buClr>
          <a:schemeClr val="accent1"/>
        </a:buClr>
        <a:buFont typeface="Calibri" pitchFamily="34" charset="0"/>
        <a:buChar char="◦"/>
        <a:defRPr sz="788" kern="1200">
          <a:solidFill>
            <a:schemeClr val="tx1">
              <a:lumMod val="75000"/>
              <a:lumOff val="25000"/>
            </a:schemeClr>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p:txBody>
          <a:bodyPr/>
          <a:lstStyle/>
          <a:p>
            <a:r>
              <a:rPr lang="da-DK" dirty="0"/>
              <a:t>Svar…………….</a:t>
            </a:r>
          </a:p>
        </p:txBody>
      </p:sp>
      <p:sp>
        <p:nvSpPr>
          <p:cNvPr id="6" name="Undertitel 5"/>
          <p:cNvSpPr>
            <a:spLocks noGrp="1"/>
          </p:cNvSpPr>
          <p:nvPr>
            <p:ph type="subTitle" idx="1"/>
          </p:nvPr>
        </p:nvSpPr>
        <p:spPr/>
        <p:txBody>
          <a:bodyPr/>
          <a:lstStyle/>
          <a:p>
            <a:endParaRPr lang="da-DK" dirty="0"/>
          </a:p>
        </p:txBody>
      </p:sp>
    </p:spTree>
    <p:extLst>
      <p:ext uri="{BB962C8B-B14F-4D97-AF65-F5344CB8AC3E}">
        <p14:creationId xmlns:p14="http://schemas.microsoft.com/office/powerpoint/2010/main" val="950830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lede 4">
            <a:extLst>
              <a:ext uri="{FF2B5EF4-FFF2-40B4-BE49-F238E27FC236}">
                <a16:creationId xmlns:a16="http://schemas.microsoft.com/office/drawing/2014/main" id="{231A8D00-35DD-11AF-E685-4155269518D6}"/>
              </a:ext>
            </a:extLst>
          </p:cNvPr>
          <p:cNvPicPr>
            <a:picLocks noChangeAspect="1"/>
          </p:cNvPicPr>
          <p:nvPr/>
        </p:nvPicPr>
        <p:blipFill>
          <a:blip r:embed="rId2"/>
          <a:stretch>
            <a:fillRect/>
          </a:stretch>
        </p:blipFill>
        <p:spPr>
          <a:xfrm>
            <a:off x="-1" y="-1"/>
            <a:ext cx="12192001" cy="6858001"/>
          </a:xfrm>
          <a:prstGeom prst="rect">
            <a:avLst/>
          </a:prstGeom>
        </p:spPr>
      </p:pic>
      <p:sp>
        <p:nvSpPr>
          <p:cNvPr id="2" name="Tekstfelt 1">
            <a:extLst>
              <a:ext uri="{FF2B5EF4-FFF2-40B4-BE49-F238E27FC236}">
                <a16:creationId xmlns:a16="http://schemas.microsoft.com/office/drawing/2014/main" id="{D4F08030-39A1-7FED-8023-CB9392B23423}"/>
              </a:ext>
            </a:extLst>
          </p:cNvPr>
          <p:cNvSpPr txBox="1"/>
          <p:nvPr/>
        </p:nvSpPr>
        <p:spPr>
          <a:xfrm>
            <a:off x="2679192" y="292608"/>
            <a:ext cx="4482766" cy="646331"/>
          </a:xfrm>
          <a:prstGeom prst="rect">
            <a:avLst/>
          </a:prstGeom>
          <a:noFill/>
        </p:spPr>
        <p:txBody>
          <a:bodyPr wrap="none" rtlCol="0">
            <a:spAutoFit/>
          </a:bodyPr>
          <a:lstStyle/>
          <a:p>
            <a:r>
              <a:rPr lang="da-DK" dirty="0"/>
              <a:t>SVAR Materialekendskab &amp; Sundhedsrisiko </a:t>
            </a:r>
          </a:p>
          <a:p>
            <a:r>
              <a:rPr lang="da-DK" dirty="0"/>
              <a:t> </a:t>
            </a:r>
          </a:p>
        </p:txBody>
      </p:sp>
      <p:sp>
        <p:nvSpPr>
          <p:cNvPr id="4" name="Tekstfelt 3">
            <a:extLst>
              <a:ext uri="{FF2B5EF4-FFF2-40B4-BE49-F238E27FC236}">
                <a16:creationId xmlns:a16="http://schemas.microsoft.com/office/drawing/2014/main" id="{25F3EB5D-C328-7EF6-EA55-CAB2C42B6AF4}"/>
              </a:ext>
            </a:extLst>
          </p:cNvPr>
          <p:cNvSpPr txBox="1"/>
          <p:nvPr/>
        </p:nvSpPr>
        <p:spPr>
          <a:xfrm>
            <a:off x="1041153" y="1456236"/>
            <a:ext cx="6158484" cy="738664"/>
          </a:xfrm>
          <a:prstGeom prst="rect">
            <a:avLst/>
          </a:prstGeom>
          <a:noFill/>
        </p:spPr>
        <p:txBody>
          <a:bodyPr wrap="square">
            <a:spAutoFit/>
          </a:bodyPr>
          <a:lstStyle/>
          <a:p>
            <a:pPr lvl="0">
              <a:tabLst>
                <a:tab pos="228600" algn="l"/>
                <a:tab pos="1049020" algn="l"/>
              </a:tabLst>
            </a:pPr>
            <a:r>
              <a:rPr lang="da-DK" sz="1400" dirty="0">
                <a:effectLst/>
                <a:latin typeface="Comic Sans MS" panose="030F0702030302020204" pitchFamily="66" charset="0"/>
                <a:ea typeface="Times New Roman" panose="02020603050405020304" pitchFamily="18" charset="0"/>
              </a:rPr>
              <a:t>1. Hvilke typer af asbest kan vi finde i bygninger m.m. </a:t>
            </a:r>
          </a:p>
          <a:p>
            <a:pPr marL="342900" lvl="0" indent="-342900">
              <a:buFont typeface="+mj-lt"/>
              <a:buAutoNum type="arabicPeriod"/>
              <a:tabLst>
                <a:tab pos="228600" algn="l"/>
                <a:tab pos="1049020" algn="l"/>
              </a:tabLst>
            </a:pPr>
            <a:endParaRPr lang="da-DK" sz="1400" dirty="0">
              <a:effectLst/>
              <a:latin typeface="Comic Sans MS" panose="030F0702030302020204" pitchFamily="66" charset="0"/>
              <a:ea typeface="Times New Roman" panose="02020603050405020304" pitchFamily="18" charset="0"/>
            </a:endParaRPr>
          </a:p>
          <a:p>
            <a:pPr marL="742950" lvl="1" indent="-285750">
              <a:buFont typeface="+mj-lt"/>
              <a:buAutoNum type="alphaLcPeriod"/>
              <a:tabLst>
                <a:tab pos="685800" algn="l"/>
                <a:tab pos="1049020" algn="l"/>
              </a:tabLst>
            </a:pPr>
            <a:r>
              <a:rPr lang="da-DK" sz="1400" dirty="0">
                <a:effectLst/>
                <a:latin typeface="Comic Sans MS" panose="030F0702030302020204" pitchFamily="66" charset="0"/>
                <a:ea typeface="Times New Roman" panose="02020603050405020304" pitchFamily="18" charset="0"/>
              </a:rPr>
              <a:t>Kan man kende dem fra hinanden i byggematerialer?</a:t>
            </a:r>
          </a:p>
        </p:txBody>
      </p:sp>
      <p:sp>
        <p:nvSpPr>
          <p:cNvPr id="3" name="Tekstfelt 2">
            <a:extLst>
              <a:ext uri="{FF2B5EF4-FFF2-40B4-BE49-F238E27FC236}">
                <a16:creationId xmlns:a16="http://schemas.microsoft.com/office/drawing/2014/main" id="{1A565BAF-49C4-E99F-F67C-4B2200463BF5}"/>
              </a:ext>
            </a:extLst>
          </p:cNvPr>
          <p:cNvSpPr txBox="1"/>
          <p:nvPr/>
        </p:nvSpPr>
        <p:spPr>
          <a:xfrm>
            <a:off x="7380514" y="1735494"/>
            <a:ext cx="1835759" cy="369332"/>
          </a:xfrm>
          <a:prstGeom prst="rect">
            <a:avLst/>
          </a:prstGeom>
          <a:noFill/>
        </p:spPr>
        <p:txBody>
          <a:bodyPr wrap="none" rtlCol="0">
            <a:spAutoFit/>
          </a:bodyPr>
          <a:lstStyle/>
          <a:p>
            <a:r>
              <a:rPr lang="da-DK" dirty="0"/>
              <a:t>Hvid brun og blå </a:t>
            </a:r>
          </a:p>
        </p:txBody>
      </p:sp>
      <p:sp>
        <p:nvSpPr>
          <p:cNvPr id="6" name="Tekstfelt 5">
            <a:extLst>
              <a:ext uri="{FF2B5EF4-FFF2-40B4-BE49-F238E27FC236}">
                <a16:creationId xmlns:a16="http://schemas.microsoft.com/office/drawing/2014/main" id="{BD16AF27-617D-1850-46A1-183114F6C6E8}"/>
              </a:ext>
            </a:extLst>
          </p:cNvPr>
          <p:cNvSpPr txBox="1"/>
          <p:nvPr/>
        </p:nvSpPr>
        <p:spPr>
          <a:xfrm>
            <a:off x="3620278" y="3237722"/>
            <a:ext cx="1405321" cy="1015663"/>
          </a:xfrm>
          <a:prstGeom prst="rect">
            <a:avLst/>
          </a:prstGeom>
          <a:noFill/>
        </p:spPr>
        <p:txBody>
          <a:bodyPr wrap="none" rtlCol="0">
            <a:spAutoFit/>
          </a:bodyPr>
          <a:lstStyle/>
          <a:p>
            <a:r>
              <a:rPr lang="da-DK" sz="6000" dirty="0"/>
              <a:t>NEJ</a:t>
            </a:r>
          </a:p>
        </p:txBody>
      </p:sp>
    </p:spTree>
    <p:extLst>
      <p:ext uri="{BB962C8B-B14F-4D97-AF65-F5344CB8AC3E}">
        <p14:creationId xmlns:p14="http://schemas.microsoft.com/office/powerpoint/2010/main" val="21477116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BEF79-7851-65FE-62F0-F42CF31C3F02}"/>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C6D84E12-10B3-D329-3111-09953F3D228D}"/>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C6BD8C1F-BF15-6CBF-5324-ECBCCDAA8E28}"/>
              </a:ext>
            </a:extLst>
          </p:cNvPr>
          <p:cNvSpPr txBox="1"/>
          <p:nvPr/>
        </p:nvSpPr>
        <p:spPr>
          <a:xfrm>
            <a:off x="1771650" y="1629079"/>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2. Asbest er brugt i mange materialer pga. sine egenskaber, som er?</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47B39542-B288-6335-CAF7-F014DE8534CB}"/>
              </a:ext>
            </a:extLst>
          </p:cNvPr>
          <p:cNvSpPr txBox="1"/>
          <p:nvPr/>
        </p:nvSpPr>
        <p:spPr>
          <a:xfrm>
            <a:off x="3014565" y="2934144"/>
            <a:ext cx="6162868" cy="2156039"/>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Slidstærke</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Fleksible (de knækker ikke)</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Modstandsdygtige over for kemiske- og biologiske påvirkninger</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Modstandsdygtige over for temperaturer. De tåler temperaturer over 900 </a:t>
            </a:r>
            <a:r>
              <a:rPr lang="da-DK" sz="1800" kern="100" baseline="30000" dirty="0">
                <a:effectLst/>
                <a:latin typeface="Calibri" panose="020F0502020204030204" pitchFamily="34" charset="0"/>
                <a:ea typeface="Aptos" panose="020B0004020202020204" pitchFamily="34" charset="0"/>
                <a:cs typeface="Times New Roman" panose="02020603050405020304" pitchFamily="18" charset="0"/>
              </a:rPr>
              <a:t>0</a:t>
            </a:r>
            <a:r>
              <a:rPr lang="da-DK" sz="1800" kern="100" dirty="0">
                <a:effectLst/>
                <a:latin typeface="Calibri" panose="020F0502020204030204" pitchFamily="34" charset="0"/>
                <a:ea typeface="Aptos" panose="020B0004020202020204" pitchFamily="34" charset="0"/>
                <a:cs typeface="Times New Roman" panose="02020603050405020304" pitchFamily="18" charset="0"/>
              </a:rPr>
              <a:t>C og smelter først ved 1150 – 1550 </a:t>
            </a:r>
            <a:r>
              <a:rPr lang="da-DK" sz="1800" kern="100" baseline="30000" dirty="0">
                <a:effectLst/>
                <a:latin typeface="Calibri" panose="020F0502020204030204" pitchFamily="34" charset="0"/>
                <a:ea typeface="Aptos" panose="020B0004020202020204" pitchFamily="34" charset="0"/>
                <a:cs typeface="Times New Roman" panose="02020603050405020304" pitchFamily="18" charset="0"/>
              </a:rPr>
              <a:t>0</a:t>
            </a:r>
            <a:r>
              <a:rPr lang="da-DK" sz="1800" kern="100" dirty="0">
                <a:effectLst/>
                <a:latin typeface="Calibri" panose="020F0502020204030204" pitchFamily="34" charset="0"/>
                <a:ea typeface="Aptos" panose="020B0004020202020204" pitchFamily="34" charset="0"/>
                <a:cs typeface="Times New Roman" panose="02020603050405020304" pitchFamily="18" charset="0"/>
              </a:rPr>
              <a:t>C</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878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59FBB-0477-7A5B-C453-20DFEDE9A9D3}"/>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56F37C9A-88CC-C61F-2D9F-7BF2CD614E55}"/>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1A062A4D-8036-9023-4D71-87DE2EF535AD}"/>
              </a:ext>
            </a:extLst>
          </p:cNvPr>
          <p:cNvSpPr txBox="1"/>
          <p:nvPr/>
        </p:nvSpPr>
        <p:spPr>
          <a:xfrm>
            <a:off x="2393442" y="1793671"/>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3. I hvilken periode blev der anvendt særligt meget asbest i Danmark?</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D12FB335-70BF-0921-F348-4A3191226013}"/>
              </a:ext>
            </a:extLst>
          </p:cNvPr>
          <p:cNvSpPr txBox="1"/>
          <p:nvPr/>
        </p:nvSpPr>
        <p:spPr>
          <a:xfrm>
            <a:off x="1511559" y="2939143"/>
            <a:ext cx="9416296" cy="369332"/>
          </a:xfrm>
          <a:prstGeom prst="rect">
            <a:avLst/>
          </a:prstGeom>
          <a:noFill/>
        </p:spPr>
        <p:txBody>
          <a:bodyPr wrap="none" rtlCol="0">
            <a:spAutoFit/>
          </a:bodyPr>
          <a:lstStyle/>
          <a:p>
            <a:r>
              <a:rPr lang="da-DK" dirty="0"/>
              <a:t>Dansk produktion af asbest startede 1927 og stoppede i 1986 lagervarer blev brugt til 1990/92</a:t>
            </a:r>
          </a:p>
        </p:txBody>
      </p:sp>
    </p:spTree>
    <p:extLst>
      <p:ext uri="{BB962C8B-B14F-4D97-AF65-F5344CB8AC3E}">
        <p14:creationId xmlns:p14="http://schemas.microsoft.com/office/powerpoint/2010/main" val="23273341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D35F-C594-FD4D-637D-7E6FB3582F77}"/>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2AAE193F-2945-C67A-0EF6-C4BEC5E7AE6D}"/>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2C6FCB93-CB7D-CCAA-8B75-A0F7AB6DE11F}"/>
              </a:ext>
            </a:extLst>
          </p:cNvPr>
          <p:cNvSpPr txBox="1"/>
          <p:nvPr/>
        </p:nvSpPr>
        <p:spPr>
          <a:xfrm>
            <a:off x="3015234" y="3066026"/>
            <a:ext cx="6158484" cy="369332"/>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4. Hvorledes afgør man om et materiale indeholder asbest?</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A0FFD39F-5262-5602-E636-6215A21956C3}"/>
              </a:ext>
            </a:extLst>
          </p:cNvPr>
          <p:cNvSpPr txBox="1"/>
          <p:nvPr/>
        </p:nvSpPr>
        <p:spPr>
          <a:xfrm>
            <a:off x="3015234" y="4124131"/>
            <a:ext cx="6262355" cy="369332"/>
          </a:xfrm>
          <a:prstGeom prst="rect">
            <a:avLst/>
          </a:prstGeom>
          <a:noFill/>
        </p:spPr>
        <p:txBody>
          <a:bodyPr wrap="none" rtlCol="0">
            <a:spAutoFit/>
          </a:bodyPr>
          <a:lstStyle/>
          <a:p>
            <a:r>
              <a:rPr lang="da-DK" dirty="0"/>
              <a:t>Vil man være sikker så er der kun laboratoriet til at afgøre det </a:t>
            </a:r>
          </a:p>
        </p:txBody>
      </p:sp>
    </p:spTree>
    <p:extLst>
      <p:ext uri="{BB962C8B-B14F-4D97-AF65-F5344CB8AC3E}">
        <p14:creationId xmlns:p14="http://schemas.microsoft.com/office/powerpoint/2010/main" val="26737704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A0582-AADD-1185-79FE-C7ABD4A56FEC}"/>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21517CB5-F28F-C76B-7E99-2DDD12F0CCCB}"/>
              </a:ext>
            </a:extLst>
          </p:cNvPr>
          <p:cNvPicPr>
            <a:picLocks noChangeAspect="1"/>
          </p:cNvPicPr>
          <p:nvPr/>
        </p:nvPicPr>
        <p:blipFill>
          <a:blip r:embed="rId2"/>
          <a:stretch>
            <a:fillRect/>
          </a:stretch>
        </p:blipFill>
        <p:spPr>
          <a:xfrm>
            <a:off x="-1" y="14769"/>
            <a:ext cx="12192001" cy="6858001"/>
          </a:xfrm>
          <a:prstGeom prst="rect">
            <a:avLst/>
          </a:prstGeom>
        </p:spPr>
      </p:pic>
      <p:sp>
        <p:nvSpPr>
          <p:cNvPr id="3" name="Tekstfelt 2">
            <a:extLst>
              <a:ext uri="{FF2B5EF4-FFF2-40B4-BE49-F238E27FC236}">
                <a16:creationId xmlns:a16="http://schemas.microsoft.com/office/drawing/2014/main" id="{16E01201-8554-3F5E-7700-5D984859748B}"/>
              </a:ext>
            </a:extLst>
          </p:cNvPr>
          <p:cNvSpPr txBox="1"/>
          <p:nvPr/>
        </p:nvSpPr>
        <p:spPr>
          <a:xfrm>
            <a:off x="1651518" y="1415733"/>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5. Nævn mindst 5 meget anvendte byggematerialer, som indeholder asbest.</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99F71EC2-BE2A-8815-68FF-22FCD3AD6119}"/>
              </a:ext>
            </a:extLst>
          </p:cNvPr>
          <p:cNvSpPr txBox="1"/>
          <p:nvPr/>
        </p:nvSpPr>
        <p:spPr>
          <a:xfrm>
            <a:off x="1651518" y="4152122"/>
            <a:ext cx="993221" cy="369332"/>
          </a:xfrm>
          <a:prstGeom prst="rect">
            <a:avLst/>
          </a:prstGeom>
          <a:noFill/>
        </p:spPr>
        <p:txBody>
          <a:bodyPr wrap="none" rtlCol="0">
            <a:spAutoFit/>
          </a:bodyPr>
          <a:lstStyle/>
          <a:p>
            <a:r>
              <a:rPr lang="da-DK" dirty="0"/>
              <a:t>Elkabler</a:t>
            </a:r>
          </a:p>
        </p:txBody>
      </p:sp>
      <p:sp>
        <p:nvSpPr>
          <p:cNvPr id="4" name="Tekstfelt 3">
            <a:extLst>
              <a:ext uri="{FF2B5EF4-FFF2-40B4-BE49-F238E27FC236}">
                <a16:creationId xmlns:a16="http://schemas.microsoft.com/office/drawing/2014/main" id="{8FD87A75-F4DF-589E-EF17-B05063501019}"/>
              </a:ext>
            </a:extLst>
          </p:cNvPr>
          <p:cNvSpPr txBox="1"/>
          <p:nvPr/>
        </p:nvSpPr>
        <p:spPr>
          <a:xfrm>
            <a:off x="3694922" y="4609322"/>
            <a:ext cx="877869" cy="369332"/>
          </a:xfrm>
          <a:prstGeom prst="rect">
            <a:avLst/>
          </a:prstGeom>
          <a:noFill/>
        </p:spPr>
        <p:txBody>
          <a:bodyPr wrap="none" rtlCol="0">
            <a:spAutoFit/>
          </a:bodyPr>
          <a:lstStyle/>
          <a:p>
            <a:r>
              <a:rPr lang="da-DK" dirty="0"/>
              <a:t>tagpap</a:t>
            </a:r>
          </a:p>
        </p:txBody>
      </p:sp>
      <p:sp>
        <p:nvSpPr>
          <p:cNvPr id="6" name="Tekstfelt 5">
            <a:extLst>
              <a:ext uri="{FF2B5EF4-FFF2-40B4-BE49-F238E27FC236}">
                <a16:creationId xmlns:a16="http://schemas.microsoft.com/office/drawing/2014/main" id="{04E2423E-69C2-F627-351A-1292C8A13C62}"/>
              </a:ext>
            </a:extLst>
          </p:cNvPr>
          <p:cNvSpPr txBox="1"/>
          <p:nvPr/>
        </p:nvSpPr>
        <p:spPr>
          <a:xfrm>
            <a:off x="5906278" y="3956180"/>
            <a:ext cx="1167243" cy="369332"/>
          </a:xfrm>
          <a:prstGeom prst="rect">
            <a:avLst/>
          </a:prstGeom>
          <a:noFill/>
        </p:spPr>
        <p:txBody>
          <a:bodyPr wrap="none" rtlCol="0">
            <a:spAutoFit/>
          </a:bodyPr>
          <a:lstStyle/>
          <a:p>
            <a:r>
              <a:rPr lang="da-DK" dirty="0"/>
              <a:t>pakninger</a:t>
            </a:r>
          </a:p>
        </p:txBody>
      </p:sp>
      <p:sp>
        <p:nvSpPr>
          <p:cNvPr id="7" name="Tekstfelt 6">
            <a:extLst>
              <a:ext uri="{FF2B5EF4-FFF2-40B4-BE49-F238E27FC236}">
                <a16:creationId xmlns:a16="http://schemas.microsoft.com/office/drawing/2014/main" id="{A779F40D-8597-10AE-E492-B4C3EAC2F8FC}"/>
              </a:ext>
            </a:extLst>
          </p:cNvPr>
          <p:cNvSpPr txBox="1"/>
          <p:nvPr/>
        </p:nvSpPr>
        <p:spPr>
          <a:xfrm>
            <a:off x="5794310" y="5131837"/>
            <a:ext cx="1722459" cy="369332"/>
          </a:xfrm>
          <a:prstGeom prst="rect">
            <a:avLst/>
          </a:prstGeom>
          <a:noFill/>
        </p:spPr>
        <p:txBody>
          <a:bodyPr wrap="none" rtlCol="0">
            <a:spAutoFit/>
          </a:bodyPr>
          <a:lstStyle/>
          <a:p>
            <a:r>
              <a:rPr lang="da-DK" dirty="0"/>
              <a:t>sprøjteisolering</a:t>
            </a:r>
          </a:p>
        </p:txBody>
      </p:sp>
      <p:sp>
        <p:nvSpPr>
          <p:cNvPr id="8" name="Tekstfelt 7">
            <a:extLst>
              <a:ext uri="{FF2B5EF4-FFF2-40B4-BE49-F238E27FC236}">
                <a16:creationId xmlns:a16="http://schemas.microsoft.com/office/drawing/2014/main" id="{70AED566-80C2-CDF4-8FB4-D7CD51B15A28}"/>
              </a:ext>
            </a:extLst>
          </p:cNvPr>
          <p:cNvSpPr txBox="1"/>
          <p:nvPr/>
        </p:nvSpPr>
        <p:spPr>
          <a:xfrm flipH="1">
            <a:off x="8723188" y="3825551"/>
            <a:ext cx="1160700" cy="369332"/>
          </a:xfrm>
          <a:prstGeom prst="rect">
            <a:avLst/>
          </a:prstGeom>
          <a:noFill/>
        </p:spPr>
        <p:txBody>
          <a:bodyPr wrap="square" rtlCol="0">
            <a:spAutoFit/>
          </a:bodyPr>
          <a:lstStyle/>
          <a:p>
            <a:r>
              <a:rPr lang="da-DK" dirty="0"/>
              <a:t>vinyl</a:t>
            </a:r>
          </a:p>
        </p:txBody>
      </p:sp>
      <p:sp>
        <p:nvSpPr>
          <p:cNvPr id="9" name="Tekstfelt 8">
            <a:extLst>
              <a:ext uri="{FF2B5EF4-FFF2-40B4-BE49-F238E27FC236}">
                <a16:creationId xmlns:a16="http://schemas.microsoft.com/office/drawing/2014/main" id="{D83127F9-180A-5366-B0D1-B013C53B904A}"/>
              </a:ext>
            </a:extLst>
          </p:cNvPr>
          <p:cNvSpPr txBox="1"/>
          <p:nvPr/>
        </p:nvSpPr>
        <p:spPr>
          <a:xfrm>
            <a:off x="8378890" y="4861249"/>
            <a:ext cx="1157433" cy="369332"/>
          </a:xfrm>
          <a:prstGeom prst="rect">
            <a:avLst/>
          </a:prstGeom>
          <a:noFill/>
        </p:spPr>
        <p:txBody>
          <a:bodyPr wrap="none" rtlCol="0">
            <a:spAutoFit/>
          </a:bodyPr>
          <a:lstStyle/>
          <a:p>
            <a:r>
              <a:rPr lang="da-DK" dirty="0"/>
              <a:t>loftplader</a:t>
            </a:r>
          </a:p>
        </p:txBody>
      </p:sp>
    </p:spTree>
    <p:extLst>
      <p:ext uri="{BB962C8B-B14F-4D97-AF65-F5344CB8AC3E}">
        <p14:creationId xmlns:p14="http://schemas.microsoft.com/office/powerpoint/2010/main" val="29383889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ircle(in)">
                                      <p:cBhvr>
                                        <p:cTn id="21" dur="2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1000" fill="hold"/>
                                        <p:tgtEl>
                                          <p:spTgt spid="7"/>
                                        </p:tgtEl>
                                        <p:attrNameLst>
                                          <p:attrName>ppt_w</p:attrName>
                                        </p:attrNameLst>
                                      </p:cBhvr>
                                      <p:tavLst>
                                        <p:tav tm="0">
                                          <p:val>
                                            <p:fltVal val="0"/>
                                          </p:val>
                                        </p:tav>
                                        <p:tav tm="100000">
                                          <p:val>
                                            <p:strVal val="#ppt_w"/>
                                          </p:val>
                                        </p:tav>
                                      </p:tavLst>
                                    </p:anim>
                                    <p:anim calcmode="lin" valueType="num">
                                      <p:cBhvr>
                                        <p:cTn id="27" dur="1000" fill="hold"/>
                                        <p:tgtEl>
                                          <p:spTgt spid="7"/>
                                        </p:tgtEl>
                                        <p:attrNameLst>
                                          <p:attrName>ppt_h</p:attrName>
                                        </p:attrNameLst>
                                      </p:cBhvr>
                                      <p:tavLst>
                                        <p:tav tm="0">
                                          <p:val>
                                            <p:fltVal val="0"/>
                                          </p:val>
                                        </p:tav>
                                        <p:tav tm="100000">
                                          <p:val>
                                            <p:strVal val="#ppt_h"/>
                                          </p:val>
                                        </p:tav>
                                      </p:tavLst>
                                    </p:anim>
                                    <p:anim calcmode="lin" valueType="num">
                                      <p:cBhvr>
                                        <p:cTn id="28" dur="1000" fill="hold"/>
                                        <p:tgtEl>
                                          <p:spTgt spid="7"/>
                                        </p:tgtEl>
                                        <p:attrNameLst>
                                          <p:attrName>style.rotation</p:attrName>
                                        </p:attrNameLst>
                                      </p:cBhvr>
                                      <p:tavLst>
                                        <p:tav tm="0">
                                          <p:val>
                                            <p:fltVal val="90"/>
                                          </p:val>
                                        </p:tav>
                                        <p:tav tm="100000">
                                          <p:val>
                                            <p:fltVal val="0"/>
                                          </p:val>
                                        </p:tav>
                                      </p:tavLst>
                                    </p:anim>
                                    <p:animEffect transition="in" filter="fade">
                                      <p:cBhvr>
                                        <p:cTn id="29" dur="10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2000"/>
                                        <p:tgtEl>
                                          <p:spTgt spid="8"/>
                                        </p:tgtEl>
                                      </p:cBhvr>
                                    </p:animEffect>
                                    <p:anim calcmode="lin" valueType="num">
                                      <p:cBhvr>
                                        <p:cTn id="35" dur="2000" fill="hold"/>
                                        <p:tgtEl>
                                          <p:spTgt spid="8"/>
                                        </p:tgtEl>
                                        <p:attrNameLst>
                                          <p:attrName>ppt_w</p:attrName>
                                        </p:attrNameLst>
                                      </p:cBhvr>
                                      <p:tavLst>
                                        <p:tav tm="0" fmla="#ppt_w*sin(2.5*pi*$)">
                                          <p:val>
                                            <p:fltVal val="0"/>
                                          </p:val>
                                        </p:tav>
                                        <p:tav tm="100000">
                                          <p:val>
                                            <p:fltVal val="1"/>
                                          </p:val>
                                        </p:tav>
                                      </p:tavLst>
                                    </p:anim>
                                    <p:anim calcmode="lin" valueType="num">
                                      <p:cBhvr>
                                        <p:cTn id="36"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down)">
                                      <p:cBhvr>
                                        <p:cTn id="41" dur="580">
                                          <p:stCondLst>
                                            <p:cond delay="0"/>
                                          </p:stCondLst>
                                        </p:cTn>
                                        <p:tgtEl>
                                          <p:spTgt spid="9"/>
                                        </p:tgtEl>
                                      </p:cBhvr>
                                    </p:animEffect>
                                    <p:anim calcmode="lin" valueType="num">
                                      <p:cBhvr>
                                        <p:cTn id="4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47" dur="26">
                                          <p:stCondLst>
                                            <p:cond delay="650"/>
                                          </p:stCondLst>
                                        </p:cTn>
                                        <p:tgtEl>
                                          <p:spTgt spid="9"/>
                                        </p:tgtEl>
                                      </p:cBhvr>
                                      <p:to x="100000" y="60000"/>
                                    </p:animScale>
                                    <p:animScale>
                                      <p:cBhvr>
                                        <p:cTn id="48" dur="166" decel="50000">
                                          <p:stCondLst>
                                            <p:cond delay="676"/>
                                          </p:stCondLst>
                                        </p:cTn>
                                        <p:tgtEl>
                                          <p:spTgt spid="9"/>
                                        </p:tgtEl>
                                      </p:cBhvr>
                                      <p:to x="100000" y="100000"/>
                                    </p:animScale>
                                    <p:animScale>
                                      <p:cBhvr>
                                        <p:cTn id="49" dur="26">
                                          <p:stCondLst>
                                            <p:cond delay="1312"/>
                                          </p:stCondLst>
                                        </p:cTn>
                                        <p:tgtEl>
                                          <p:spTgt spid="9"/>
                                        </p:tgtEl>
                                      </p:cBhvr>
                                      <p:to x="100000" y="80000"/>
                                    </p:animScale>
                                    <p:animScale>
                                      <p:cBhvr>
                                        <p:cTn id="50" dur="166" decel="50000">
                                          <p:stCondLst>
                                            <p:cond delay="1338"/>
                                          </p:stCondLst>
                                        </p:cTn>
                                        <p:tgtEl>
                                          <p:spTgt spid="9"/>
                                        </p:tgtEl>
                                      </p:cBhvr>
                                      <p:to x="100000" y="100000"/>
                                    </p:animScale>
                                    <p:animScale>
                                      <p:cBhvr>
                                        <p:cTn id="51" dur="26">
                                          <p:stCondLst>
                                            <p:cond delay="1642"/>
                                          </p:stCondLst>
                                        </p:cTn>
                                        <p:tgtEl>
                                          <p:spTgt spid="9"/>
                                        </p:tgtEl>
                                      </p:cBhvr>
                                      <p:to x="100000" y="90000"/>
                                    </p:animScale>
                                    <p:animScale>
                                      <p:cBhvr>
                                        <p:cTn id="52" dur="166" decel="50000">
                                          <p:stCondLst>
                                            <p:cond delay="1668"/>
                                          </p:stCondLst>
                                        </p:cTn>
                                        <p:tgtEl>
                                          <p:spTgt spid="9"/>
                                        </p:tgtEl>
                                      </p:cBhvr>
                                      <p:to x="100000" y="100000"/>
                                    </p:animScale>
                                    <p:animScale>
                                      <p:cBhvr>
                                        <p:cTn id="53" dur="26">
                                          <p:stCondLst>
                                            <p:cond delay="1808"/>
                                          </p:stCondLst>
                                        </p:cTn>
                                        <p:tgtEl>
                                          <p:spTgt spid="9"/>
                                        </p:tgtEl>
                                      </p:cBhvr>
                                      <p:to x="100000" y="95000"/>
                                    </p:animScale>
                                    <p:animScale>
                                      <p:cBhvr>
                                        <p:cTn id="54"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DE7E-E21B-A5D4-F100-25C7A413442E}"/>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AFA5BF1-1CB9-BC0C-1ACD-BB11CB6E7B24}"/>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D00B00A4-30BA-BF6A-9827-3EA6F12C913E}"/>
              </a:ext>
            </a:extLst>
          </p:cNvPr>
          <p:cNvSpPr txBox="1"/>
          <p:nvPr/>
        </p:nvSpPr>
        <p:spPr>
          <a:xfrm>
            <a:off x="3015234" y="2927527"/>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6. Hvilke asbestholdige materialer er overordnet de farligste at håndtere?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0D000D47-3854-013E-4D7C-E1A6C0BAB735}"/>
              </a:ext>
            </a:extLst>
          </p:cNvPr>
          <p:cNvSpPr txBox="1"/>
          <p:nvPr/>
        </p:nvSpPr>
        <p:spPr>
          <a:xfrm>
            <a:off x="1548882" y="4170784"/>
            <a:ext cx="6698437" cy="646331"/>
          </a:xfrm>
          <a:prstGeom prst="rect">
            <a:avLst/>
          </a:prstGeom>
          <a:noFill/>
        </p:spPr>
        <p:txBody>
          <a:bodyPr wrap="none" rtlCol="0">
            <a:spAutoFit/>
          </a:bodyPr>
          <a:lstStyle/>
          <a:p>
            <a:r>
              <a:rPr lang="da-DK" dirty="0"/>
              <a:t>Asbestholdige overflader som ved bearbejdning afgive meget støv </a:t>
            </a:r>
          </a:p>
          <a:p>
            <a:r>
              <a:rPr lang="da-DK" dirty="0" err="1"/>
              <a:t>Fks</a:t>
            </a:r>
            <a:r>
              <a:rPr lang="da-DK" dirty="0"/>
              <a:t>: tagplader, skifereternit, tekniskisolering og sprøjteisolering </a:t>
            </a:r>
          </a:p>
        </p:txBody>
      </p:sp>
    </p:spTree>
    <p:extLst>
      <p:ext uri="{BB962C8B-B14F-4D97-AF65-F5344CB8AC3E}">
        <p14:creationId xmlns:p14="http://schemas.microsoft.com/office/powerpoint/2010/main" val="19174000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B5A7-9398-C025-9106-DB4308AC1796}"/>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C15CEC9-FBF6-84C7-AB4A-0DD436D6C686}"/>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D24CD93D-7A31-EEB4-1854-3093E8D346B0}"/>
              </a:ext>
            </a:extLst>
          </p:cNvPr>
          <p:cNvSpPr txBox="1"/>
          <p:nvPr/>
        </p:nvSpPr>
        <p:spPr>
          <a:xfrm>
            <a:off x="3015234" y="2927527"/>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7. Hvilke egenskaber ved asbestfibrene, er det, der gør dem så farlige?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7937D8B2-32E1-4754-DB7F-CF669A4FDD3B}"/>
              </a:ext>
            </a:extLst>
          </p:cNvPr>
          <p:cNvSpPr txBox="1"/>
          <p:nvPr/>
        </p:nvSpPr>
        <p:spPr>
          <a:xfrm>
            <a:off x="2677886" y="4077478"/>
            <a:ext cx="3581878" cy="369332"/>
          </a:xfrm>
          <a:prstGeom prst="rect">
            <a:avLst/>
          </a:prstGeom>
          <a:noFill/>
        </p:spPr>
        <p:txBody>
          <a:bodyPr wrap="none" rtlCol="0">
            <a:spAutoFit/>
          </a:bodyPr>
          <a:lstStyle/>
          <a:p>
            <a:r>
              <a:rPr lang="da-DK" dirty="0"/>
              <a:t>Størrelsen, spidse med modhager </a:t>
            </a:r>
          </a:p>
        </p:txBody>
      </p:sp>
    </p:spTree>
    <p:extLst>
      <p:ext uri="{BB962C8B-B14F-4D97-AF65-F5344CB8AC3E}">
        <p14:creationId xmlns:p14="http://schemas.microsoft.com/office/powerpoint/2010/main" val="159873276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E18C3-4FA2-4086-EB99-B2CB303A100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9E05E0D5-E4F2-F3D2-5D36-DD2E5E7FDB6C}"/>
              </a:ext>
            </a:extLst>
          </p:cNvPr>
          <p:cNvPicPr>
            <a:picLocks noChangeAspect="1"/>
          </p:cNvPicPr>
          <p:nvPr/>
        </p:nvPicPr>
        <p:blipFill>
          <a:blip r:embed="rId2"/>
          <a:stretch>
            <a:fillRect/>
          </a:stretch>
        </p:blipFill>
        <p:spPr>
          <a:xfrm>
            <a:off x="-1" y="-1"/>
            <a:ext cx="12192001" cy="6858001"/>
          </a:xfrm>
          <a:prstGeom prst="rect">
            <a:avLst/>
          </a:prstGeom>
        </p:spPr>
      </p:pic>
      <p:sp>
        <p:nvSpPr>
          <p:cNvPr id="6" name="Tekstfelt 5">
            <a:extLst>
              <a:ext uri="{FF2B5EF4-FFF2-40B4-BE49-F238E27FC236}">
                <a16:creationId xmlns:a16="http://schemas.microsoft.com/office/drawing/2014/main" id="{1AEAAC0A-D5FE-9678-2F00-5D54873CE0E4}"/>
              </a:ext>
            </a:extLst>
          </p:cNvPr>
          <p:cNvSpPr txBox="1"/>
          <p:nvPr/>
        </p:nvSpPr>
        <p:spPr>
          <a:xfrm>
            <a:off x="3015234" y="3066026"/>
            <a:ext cx="6158484" cy="369332"/>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8. På hvilken måde kan asbest skade vores helbred?</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575DF062-5D2B-FF89-1746-7583D1CE4832}"/>
              </a:ext>
            </a:extLst>
          </p:cNvPr>
          <p:cNvSpPr txBox="1"/>
          <p:nvPr/>
        </p:nvSpPr>
        <p:spPr>
          <a:xfrm>
            <a:off x="3015234" y="4264090"/>
            <a:ext cx="4063613" cy="369332"/>
          </a:xfrm>
          <a:prstGeom prst="rect">
            <a:avLst/>
          </a:prstGeom>
          <a:noFill/>
        </p:spPr>
        <p:txBody>
          <a:bodyPr wrap="none" rtlCol="0">
            <a:spAutoFit/>
          </a:bodyPr>
          <a:lstStyle/>
          <a:p>
            <a:r>
              <a:rPr lang="da-DK" dirty="0"/>
              <a:t>Optages i luftvejene og kan ikke fjernes </a:t>
            </a:r>
          </a:p>
        </p:txBody>
      </p:sp>
    </p:spTree>
    <p:extLst>
      <p:ext uri="{BB962C8B-B14F-4D97-AF65-F5344CB8AC3E}">
        <p14:creationId xmlns:p14="http://schemas.microsoft.com/office/powerpoint/2010/main" val="39507698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2690-A418-25AF-CB99-7445105DD130}"/>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18A6562E-58B5-7A5F-214A-CD5A0DBC3F7D}"/>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E08EDA3B-04C4-073C-E8F7-42DCAEA2438F}"/>
              </a:ext>
            </a:extLst>
          </p:cNvPr>
          <p:cNvSpPr txBox="1"/>
          <p:nvPr/>
        </p:nvSpPr>
        <p:spPr>
          <a:xfrm>
            <a:off x="3015234" y="2927527"/>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9. Hvad kan </a:t>
            </a:r>
            <a:r>
              <a:rPr lang="da-DK" sz="1800" b="1" dirty="0">
                <a:effectLst/>
                <a:latin typeface="Calibri" panose="020F0502020204030204" pitchFamily="34" charset="0"/>
                <a:ea typeface="Times New Roman" panose="02020603050405020304" pitchFamily="18" charset="0"/>
              </a:rPr>
              <a:t>især</a:t>
            </a:r>
            <a:r>
              <a:rPr lang="da-DK" sz="1800" dirty="0">
                <a:effectLst/>
                <a:latin typeface="Calibri" panose="020F0502020204030204" pitchFamily="34" charset="0"/>
                <a:ea typeface="Times New Roman" panose="02020603050405020304" pitchFamily="18" charset="0"/>
              </a:rPr>
              <a:t> gøre risikoen for at få en asbestbetinget helbredslidelse større?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B6B188CC-A9F1-91D7-610E-49947CE28444}"/>
              </a:ext>
            </a:extLst>
          </p:cNvPr>
          <p:cNvSpPr txBox="1"/>
          <p:nvPr/>
        </p:nvSpPr>
        <p:spPr>
          <a:xfrm>
            <a:off x="2603241" y="4114800"/>
            <a:ext cx="4219297" cy="1446550"/>
          </a:xfrm>
          <a:prstGeom prst="rect">
            <a:avLst/>
          </a:prstGeom>
          <a:noFill/>
        </p:spPr>
        <p:txBody>
          <a:bodyPr wrap="none" rtlCol="0">
            <a:spAutoFit/>
          </a:bodyPr>
          <a:lstStyle/>
          <a:p>
            <a:r>
              <a:rPr lang="da-DK" sz="8800" b="1" dirty="0"/>
              <a:t>Rygning</a:t>
            </a:r>
          </a:p>
        </p:txBody>
      </p:sp>
    </p:spTree>
    <p:extLst>
      <p:ext uri="{BB962C8B-B14F-4D97-AF65-F5344CB8AC3E}">
        <p14:creationId xmlns:p14="http://schemas.microsoft.com/office/powerpoint/2010/main" val="40805780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B75B-FB28-CEF4-B578-0A1A46B77C7A}"/>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733133C-6C14-D2C3-D50E-6CC21373FF10}"/>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D209ED0D-518B-B65E-A5FC-A399E234AE07}"/>
              </a:ext>
            </a:extLst>
          </p:cNvPr>
          <p:cNvSpPr txBox="1"/>
          <p:nvPr/>
        </p:nvSpPr>
        <p:spPr>
          <a:xfrm>
            <a:off x="3015234" y="2927527"/>
            <a:ext cx="6158484" cy="646331"/>
          </a:xfrm>
          <a:prstGeom prst="rect">
            <a:avLst/>
          </a:prstGeom>
          <a:noFill/>
        </p:spPr>
        <p:txBody>
          <a:bodyPr wrap="square">
            <a:spAutoFit/>
          </a:bodyPr>
          <a:lstStyle/>
          <a:p>
            <a:pPr lvl="0">
              <a:tabLst>
                <a:tab pos="228600" algn="l"/>
                <a:tab pos="1049020" algn="l"/>
              </a:tabLst>
            </a:pPr>
            <a:r>
              <a:rPr lang="da-DK" sz="1800" dirty="0">
                <a:effectLst/>
                <a:latin typeface="Calibri" panose="020F0502020204030204" pitchFamily="34" charset="0"/>
                <a:ea typeface="Times New Roman" panose="02020603050405020304" pitchFamily="18" charset="0"/>
              </a:rPr>
              <a:t>10. Hvor lang kan latenstiden (fra man bliver påvirket af asbest til sygdommen bryder ud) være for asbestsygdomme?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FC54938C-CF87-252E-2E5A-08CDC1469BFF}"/>
              </a:ext>
            </a:extLst>
          </p:cNvPr>
          <p:cNvSpPr txBox="1"/>
          <p:nvPr/>
        </p:nvSpPr>
        <p:spPr>
          <a:xfrm>
            <a:off x="3015234" y="4693298"/>
            <a:ext cx="1814023" cy="369332"/>
          </a:xfrm>
          <a:prstGeom prst="rect">
            <a:avLst/>
          </a:prstGeom>
          <a:noFill/>
        </p:spPr>
        <p:txBody>
          <a:bodyPr wrap="none" rtlCol="0">
            <a:spAutoFit/>
          </a:bodyPr>
          <a:lstStyle/>
          <a:p>
            <a:r>
              <a:rPr lang="da-DK" dirty="0"/>
              <a:t>Fra 10 år til 70 år</a:t>
            </a:r>
          </a:p>
        </p:txBody>
      </p:sp>
    </p:spTree>
    <p:extLst>
      <p:ext uri="{BB962C8B-B14F-4D97-AF65-F5344CB8AC3E}">
        <p14:creationId xmlns:p14="http://schemas.microsoft.com/office/powerpoint/2010/main" val="1247410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86338-A510-C723-78F9-09A5F0F0B734}"/>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5C3D7245-0864-0787-B2E2-2DC8F53E983D}"/>
              </a:ext>
            </a:extLst>
          </p:cNvPr>
          <p:cNvPicPr>
            <a:picLocks noChangeAspect="1"/>
          </p:cNvPicPr>
          <p:nvPr/>
        </p:nvPicPr>
        <p:blipFill>
          <a:blip r:embed="rId2"/>
          <a:stretch>
            <a:fillRect/>
          </a:stretch>
        </p:blipFill>
        <p:spPr>
          <a:xfrm>
            <a:off x="-1" y="-1"/>
            <a:ext cx="12192001" cy="6858001"/>
          </a:xfrm>
          <a:prstGeom prst="rect">
            <a:avLst/>
          </a:prstGeom>
        </p:spPr>
      </p:pic>
      <p:sp>
        <p:nvSpPr>
          <p:cNvPr id="2" name="Tekstfelt 1">
            <a:extLst>
              <a:ext uri="{FF2B5EF4-FFF2-40B4-BE49-F238E27FC236}">
                <a16:creationId xmlns:a16="http://schemas.microsoft.com/office/drawing/2014/main" id="{66E4E931-80C4-9E78-FD5F-5D25BDCF8EB9}"/>
              </a:ext>
            </a:extLst>
          </p:cNvPr>
          <p:cNvSpPr txBox="1"/>
          <p:nvPr/>
        </p:nvSpPr>
        <p:spPr>
          <a:xfrm>
            <a:off x="3090672" y="246888"/>
            <a:ext cx="2357825" cy="369332"/>
          </a:xfrm>
          <a:prstGeom prst="rect">
            <a:avLst/>
          </a:prstGeom>
          <a:noFill/>
        </p:spPr>
        <p:txBody>
          <a:bodyPr wrap="none" rtlCol="0">
            <a:spAutoFit/>
          </a:bodyPr>
          <a:lstStyle/>
          <a:p>
            <a:r>
              <a:rPr lang="da-DK" dirty="0"/>
              <a:t>SVAR Åndedrætsværn</a:t>
            </a:r>
          </a:p>
        </p:txBody>
      </p:sp>
      <p:sp>
        <p:nvSpPr>
          <p:cNvPr id="4" name="Tekstfelt 3">
            <a:extLst>
              <a:ext uri="{FF2B5EF4-FFF2-40B4-BE49-F238E27FC236}">
                <a16:creationId xmlns:a16="http://schemas.microsoft.com/office/drawing/2014/main" id="{0AED84FC-0934-982E-F7C3-54DD040B2E63}"/>
              </a:ext>
            </a:extLst>
          </p:cNvPr>
          <p:cNvSpPr txBox="1"/>
          <p:nvPr/>
        </p:nvSpPr>
        <p:spPr>
          <a:xfrm>
            <a:off x="3015234" y="3066026"/>
            <a:ext cx="6158484" cy="369332"/>
          </a:xfrm>
          <a:prstGeom prst="rect">
            <a:avLst/>
          </a:prstGeom>
          <a:noFill/>
        </p:spPr>
        <p:txBody>
          <a:bodyPr wrap="square">
            <a:spAutoFit/>
          </a:bodyPr>
          <a:lstStyle/>
          <a:p>
            <a:pPr marL="342900" lvl="0" indent="-342900">
              <a:buFont typeface="+mj-lt"/>
              <a:buAutoNum type="arabicPeriod"/>
              <a:tabLst>
                <a:tab pos="228600" algn="l"/>
              </a:tabLst>
            </a:pPr>
            <a:r>
              <a:rPr lang="da-DK" sz="1800" dirty="0">
                <a:effectLst/>
                <a:latin typeface="Calibri" panose="020F0502020204030204" pitchFamily="34" charset="0"/>
                <a:ea typeface="Times New Roman" panose="02020603050405020304" pitchFamily="18" charset="0"/>
              </a:rPr>
              <a:t>Nævn de 2 hovedtyper af åndedrætsværn:</a:t>
            </a:r>
            <a:endParaRPr lang="da-DK" sz="1800" dirty="0">
              <a:effectLst/>
              <a:latin typeface="Times New Roman" panose="02020603050405020304" pitchFamily="18" charset="0"/>
              <a:ea typeface="Times New Roman" panose="02020603050405020304" pitchFamily="18" charset="0"/>
            </a:endParaRPr>
          </a:p>
        </p:txBody>
      </p:sp>
      <p:sp>
        <p:nvSpPr>
          <p:cNvPr id="6" name="Tekstfelt 5">
            <a:extLst>
              <a:ext uri="{FF2B5EF4-FFF2-40B4-BE49-F238E27FC236}">
                <a16:creationId xmlns:a16="http://schemas.microsoft.com/office/drawing/2014/main" id="{B5A9EDB5-D234-681C-51D0-473F9C6A6DA2}"/>
              </a:ext>
            </a:extLst>
          </p:cNvPr>
          <p:cNvSpPr txBox="1"/>
          <p:nvPr/>
        </p:nvSpPr>
        <p:spPr>
          <a:xfrm>
            <a:off x="3090672" y="4135343"/>
            <a:ext cx="6162868" cy="970587"/>
          </a:xfrm>
          <a:prstGeom prst="rect">
            <a:avLst/>
          </a:prstGeom>
          <a:noFill/>
        </p:spPr>
        <p:txBody>
          <a:bodyPr wrap="square">
            <a:spAutoFit/>
          </a:bodyPr>
          <a:lstStyle/>
          <a:p>
            <a:pPr lvl="0">
              <a:lnSpc>
                <a:spcPct val="107000"/>
              </a:lnSpc>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Friskluftforsynet åndedrætsværn</a:t>
            </a:r>
          </a:p>
          <a:p>
            <a:pPr lvl="0">
              <a:lnSpc>
                <a:spcPct val="107000"/>
              </a:lnSpc>
            </a:pP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07000"/>
              </a:lnSpc>
              <a:spcAft>
                <a:spcPts val="800"/>
              </a:spcAft>
            </a:pPr>
            <a:r>
              <a:rPr lang="da-DK" sz="1800" kern="100" dirty="0">
                <a:effectLst/>
                <a:latin typeface="Calibri" panose="020F0502020204030204" pitchFamily="34" charset="0"/>
                <a:ea typeface="Aptos" panose="020B0004020202020204" pitchFamily="34" charset="0"/>
                <a:cs typeface="Times New Roman" panose="02020603050405020304" pitchFamily="18" charset="0"/>
              </a:rPr>
              <a:t>Filtrende åndedrætsværn</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23487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0DA9-0FB2-D59F-18B3-9FA7A454F81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3F1422B-4F90-688C-0610-048720082F38}"/>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C01EDD62-A398-B2F4-D719-C05DE72A21C0}"/>
              </a:ext>
            </a:extLst>
          </p:cNvPr>
          <p:cNvSpPr txBox="1"/>
          <p:nvPr/>
        </p:nvSpPr>
        <p:spPr>
          <a:xfrm>
            <a:off x="3015234" y="2927527"/>
            <a:ext cx="6158484" cy="646331"/>
          </a:xfrm>
          <a:prstGeom prst="rect">
            <a:avLst/>
          </a:prstGeom>
          <a:noFill/>
        </p:spPr>
        <p:txBody>
          <a:bodyPr wrap="square">
            <a:spAutoFit/>
          </a:bodyPr>
          <a:lstStyle/>
          <a:p>
            <a:pPr>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lvl="0">
              <a:tabLst>
                <a:tab pos="228600" algn="l"/>
              </a:tabLst>
            </a:pPr>
            <a:r>
              <a:rPr lang="da-DK" sz="1800" dirty="0">
                <a:effectLst/>
                <a:latin typeface="Calibri" panose="020F0502020204030204" pitchFamily="34" charset="0"/>
                <a:ea typeface="Times New Roman" panose="02020603050405020304" pitchFamily="18" charset="0"/>
              </a:rPr>
              <a:t>2. Hvilke filtertyper kan anvendes til asbestarbejde?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BC402F52-3533-6AB8-6135-981AEEBB6CB5}"/>
              </a:ext>
            </a:extLst>
          </p:cNvPr>
          <p:cNvSpPr txBox="1"/>
          <p:nvPr/>
        </p:nvSpPr>
        <p:spPr>
          <a:xfrm>
            <a:off x="3620278" y="4273420"/>
            <a:ext cx="3114507" cy="369332"/>
          </a:xfrm>
          <a:prstGeom prst="rect">
            <a:avLst/>
          </a:prstGeom>
          <a:noFill/>
        </p:spPr>
        <p:txBody>
          <a:bodyPr wrap="none" rtlCol="0">
            <a:spAutoFit/>
          </a:bodyPr>
          <a:lstStyle/>
          <a:p>
            <a:r>
              <a:rPr lang="da-DK" dirty="0"/>
              <a:t>Kun P3-filter til asbestarbejde</a:t>
            </a:r>
          </a:p>
        </p:txBody>
      </p:sp>
    </p:spTree>
    <p:extLst>
      <p:ext uri="{BB962C8B-B14F-4D97-AF65-F5344CB8AC3E}">
        <p14:creationId xmlns:p14="http://schemas.microsoft.com/office/powerpoint/2010/main" val="15801591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7240-B472-9D9C-3E02-ED3286DA0F95}"/>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F6B45E5C-2AE0-C2BD-4AC8-5A2E89254722}"/>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3E5B8794-BB88-04B7-BD5F-E96827C1E27F}"/>
              </a:ext>
            </a:extLst>
          </p:cNvPr>
          <p:cNvSpPr txBox="1"/>
          <p:nvPr/>
        </p:nvSpPr>
        <p:spPr>
          <a:xfrm>
            <a:off x="2667762" y="1581519"/>
            <a:ext cx="6158484" cy="646331"/>
          </a:xfrm>
          <a:prstGeom prst="rect">
            <a:avLst/>
          </a:prstGeom>
          <a:noFill/>
        </p:spPr>
        <p:txBody>
          <a:bodyPr wrap="square">
            <a:spAutoFit/>
          </a:bodyPr>
          <a:lstStyle/>
          <a:p>
            <a:r>
              <a:rPr lang="da-DK" sz="1800" kern="0" dirty="0">
                <a:effectLst/>
                <a:latin typeface="Calibri" panose="020F0502020204030204" pitchFamily="34" charset="0"/>
                <a:ea typeface="Times New Roman" panose="02020603050405020304" pitchFamily="18" charset="0"/>
              </a:rPr>
              <a:t>3 og 4. Gør kort rede for væsentlige forskelle på &amp; begrænsninger ved </a:t>
            </a:r>
            <a:endParaRPr lang="da-DK" dirty="0"/>
          </a:p>
        </p:txBody>
      </p:sp>
      <p:sp>
        <p:nvSpPr>
          <p:cNvPr id="6" name="Tekstfelt 5">
            <a:extLst>
              <a:ext uri="{FF2B5EF4-FFF2-40B4-BE49-F238E27FC236}">
                <a16:creationId xmlns:a16="http://schemas.microsoft.com/office/drawing/2014/main" id="{C90DBED9-E01F-6891-D4B5-1F7336DAE271}"/>
              </a:ext>
            </a:extLst>
          </p:cNvPr>
          <p:cNvSpPr txBox="1"/>
          <p:nvPr/>
        </p:nvSpPr>
        <p:spPr>
          <a:xfrm>
            <a:off x="2859786" y="2553962"/>
            <a:ext cx="6158484" cy="369332"/>
          </a:xfrm>
          <a:prstGeom prst="rect">
            <a:avLst/>
          </a:prstGeom>
          <a:noFill/>
        </p:spPr>
        <p:txBody>
          <a:bodyPr wrap="square">
            <a:spAutoFit/>
          </a:bodyPr>
          <a:lstStyle/>
          <a:p>
            <a:pPr marL="342900" lvl="0" indent="-342900">
              <a:buFont typeface="Symbol" panose="05050102010706020507" pitchFamily="18" charset="2"/>
              <a:buChar char=""/>
              <a:tabLst>
                <a:tab pos="457200" algn="l"/>
              </a:tabLst>
            </a:pPr>
            <a:r>
              <a:rPr lang="da-DK" sz="1800" dirty="0">
                <a:effectLst/>
                <a:latin typeface="Calibri" panose="020F0502020204030204" pitchFamily="34" charset="0"/>
                <a:ea typeface="Times New Roman" panose="02020603050405020304" pitchFamily="18" charset="0"/>
              </a:rPr>
              <a:t>Filtrerende turboåndedrætsværn</a:t>
            </a:r>
            <a:endParaRPr lang="da-DK" sz="1800" dirty="0">
              <a:effectLst/>
              <a:latin typeface="Times New Roman" panose="02020603050405020304" pitchFamily="18" charset="0"/>
              <a:ea typeface="Times New Roman" panose="02020603050405020304" pitchFamily="18" charset="0"/>
            </a:endParaRPr>
          </a:p>
        </p:txBody>
      </p:sp>
      <p:sp>
        <p:nvSpPr>
          <p:cNvPr id="8" name="Tekstfelt 7">
            <a:extLst>
              <a:ext uri="{FF2B5EF4-FFF2-40B4-BE49-F238E27FC236}">
                <a16:creationId xmlns:a16="http://schemas.microsoft.com/office/drawing/2014/main" id="{0D19AC6B-60F3-31CB-0024-BA9B0FB7E72D}"/>
              </a:ext>
            </a:extLst>
          </p:cNvPr>
          <p:cNvSpPr txBox="1"/>
          <p:nvPr/>
        </p:nvSpPr>
        <p:spPr>
          <a:xfrm>
            <a:off x="2768346" y="3934707"/>
            <a:ext cx="6158484" cy="369332"/>
          </a:xfrm>
          <a:prstGeom prst="rect">
            <a:avLst/>
          </a:prstGeom>
          <a:noFill/>
        </p:spPr>
        <p:txBody>
          <a:bodyPr wrap="square">
            <a:spAutoFit/>
          </a:bodyPr>
          <a:lstStyle/>
          <a:p>
            <a:pPr marL="342900" lvl="0" indent="-342900">
              <a:buFont typeface="Symbol" panose="05050102010706020507" pitchFamily="18" charset="2"/>
              <a:buChar char=""/>
              <a:tabLst>
                <a:tab pos="457200" algn="l"/>
              </a:tabLst>
            </a:pPr>
            <a:r>
              <a:rPr lang="da-DK" sz="1800" dirty="0">
                <a:effectLst/>
                <a:latin typeface="Calibri" panose="020F0502020204030204" pitchFamily="34" charset="0"/>
                <a:ea typeface="Times New Roman" panose="02020603050405020304" pitchFamily="18" charset="0"/>
              </a:rPr>
              <a:t>Friskluftforsynet åndedrætsværn</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619464F9-BC47-8502-A84A-53689F1167B3}"/>
              </a:ext>
            </a:extLst>
          </p:cNvPr>
          <p:cNvSpPr txBox="1"/>
          <p:nvPr/>
        </p:nvSpPr>
        <p:spPr>
          <a:xfrm>
            <a:off x="2873610" y="3054597"/>
            <a:ext cx="6444778" cy="369332"/>
          </a:xfrm>
          <a:prstGeom prst="rect">
            <a:avLst/>
          </a:prstGeom>
          <a:noFill/>
        </p:spPr>
        <p:txBody>
          <a:bodyPr wrap="none" rtlCol="0">
            <a:spAutoFit/>
          </a:bodyPr>
          <a:lstStyle/>
          <a:p>
            <a:r>
              <a:rPr lang="da-DK" dirty="0"/>
              <a:t>Max 4 timer ved sanering og nedrivning og kun hvor der er ilt nok</a:t>
            </a:r>
          </a:p>
        </p:txBody>
      </p:sp>
      <p:sp>
        <p:nvSpPr>
          <p:cNvPr id="4" name="Tekstfelt 3">
            <a:extLst>
              <a:ext uri="{FF2B5EF4-FFF2-40B4-BE49-F238E27FC236}">
                <a16:creationId xmlns:a16="http://schemas.microsoft.com/office/drawing/2014/main" id="{DB2C9F14-244D-3F58-9F3D-2CCD11200C7B}"/>
              </a:ext>
            </a:extLst>
          </p:cNvPr>
          <p:cNvSpPr txBox="1"/>
          <p:nvPr/>
        </p:nvSpPr>
        <p:spPr>
          <a:xfrm>
            <a:off x="2859786" y="4363675"/>
            <a:ext cx="7237430" cy="646331"/>
          </a:xfrm>
          <a:prstGeom prst="rect">
            <a:avLst/>
          </a:prstGeom>
          <a:noFill/>
        </p:spPr>
        <p:txBody>
          <a:bodyPr wrap="none" rtlCol="0">
            <a:spAutoFit/>
          </a:bodyPr>
          <a:lstStyle/>
          <a:p>
            <a:r>
              <a:rPr lang="da-DK" dirty="0"/>
              <a:t>Max 4 timer ved sanering og nedrivning da det er luft der kommer udefra</a:t>
            </a:r>
          </a:p>
          <a:p>
            <a:r>
              <a:rPr lang="da-DK" dirty="0"/>
              <a:t> kan man bruge det i brønde, tanke og siloer</a:t>
            </a:r>
          </a:p>
        </p:txBody>
      </p:sp>
    </p:spTree>
    <p:extLst>
      <p:ext uri="{BB962C8B-B14F-4D97-AF65-F5344CB8AC3E}">
        <p14:creationId xmlns:p14="http://schemas.microsoft.com/office/powerpoint/2010/main" val="31053962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62592-6757-AC12-6FFA-F957AA6C3125}"/>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6B18EE66-C99A-6268-7C2B-95598F546E02}"/>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F7E4AEE3-E1C3-2C54-4A6D-447CFF86C7E4}"/>
              </a:ext>
            </a:extLst>
          </p:cNvPr>
          <p:cNvSpPr txBox="1"/>
          <p:nvPr/>
        </p:nvSpPr>
        <p:spPr>
          <a:xfrm>
            <a:off x="3015234" y="3066026"/>
            <a:ext cx="6158484" cy="369332"/>
          </a:xfrm>
          <a:prstGeom prst="rect">
            <a:avLst/>
          </a:prstGeom>
          <a:noFill/>
        </p:spPr>
        <p:txBody>
          <a:bodyPr wrap="square">
            <a:spAutoFit/>
          </a:bodyPr>
          <a:lstStyle/>
          <a:p>
            <a:r>
              <a:rPr lang="da-DK" kern="0" dirty="0">
                <a:latin typeface="Calibri" panose="020F0502020204030204" pitchFamily="34" charset="0"/>
                <a:ea typeface="Times New Roman" panose="02020603050405020304" pitchFamily="18" charset="0"/>
              </a:rPr>
              <a:t>5</a:t>
            </a:r>
            <a:r>
              <a:rPr lang="da-DK" sz="1800" kern="0" dirty="0">
                <a:effectLst/>
                <a:latin typeface="Calibri" panose="020F0502020204030204" pitchFamily="34" charset="0"/>
                <a:ea typeface="Times New Roman" panose="02020603050405020304" pitchFamily="18" charset="0"/>
              </a:rPr>
              <a:t>. Hvad betyder nominel beskyttelsesfaktoren?</a:t>
            </a:r>
            <a:endParaRPr lang="da-DK" dirty="0"/>
          </a:p>
        </p:txBody>
      </p:sp>
      <p:sp>
        <p:nvSpPr>
          <p:cNvPr id="4" name="Tekstfelt 3">
            <a:extLst>
              <a:ext uri="{FF2B5EF4-FFF2-40B4-BE49-F238E27FC236}">
                <a16:creationId xmlns:a16="http://schemas.microsoft.com/office/drawing/2014/main" id="{08EA818E-1D06-A275-0348-AB338ECCCA63}"/>
              </a:ext>
            </a:extLst>
          </p:cNvPr>
          <p:cNvSpPr txBox="1"/>
          <p:nvPr/>
        </p:nvSpPr>
        <p:spPr>
          <a:xfrm>
            <a:off x="3010850" y="3958126"/>
            <a:ext cx="6162868" cy="369332"/>
          </a:xfrm>
          <a:prstGeom prst="rect">
            <a:avLst/>
          </a:prstGeom>
          <a:noFill/>
        </p:spPr>
        <p:txBody>
          <a:bodyPr wrap="square">
            <a:spAutoFit/>
          </a:bodyPr>
          <a:lstStyle/>
          <a:p>
            <a:r>
              <a:rPr lang="da-DK" sz="1800" dirty="0">
                <a:effectLst/>
                <a:latin typeface="Calibri" panose="020F0502020204030204" pitchFamily="34" charset="0"/>
                <a:ea typeface="Times New Roman" panose="02020603050405020304" pitchFamily="18" charset="0"/>
              </a:rPr>
              <a:t>de nominelle værdier der er målt i laboratoriet</a:t>
            </a:r>
            <a:endParaRPr lang="da-DK" dirty="0"/>
          </a:p>
        </p:txBody>
      </p:sp>
    </p:spTree>
    <p:extLst>
      <p:ext uri="{BB962C8B-B14F-4D97-AF65-F5344CB8AC3E}">
        <p14:creationId xmlns:p14="http://schemas.microsoft.com/office/powerpoint/2010/main" val="31431708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D75E-EFBA-3EA6-D0FC-A71704D8278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655BD472-F5B2-28F0-AC72-55BF0B9F7413}"/>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BB6B9D3D-4FCC-9E4A-8A18-302EC9C0C7A5}"/>
              </a:ext>
            </a:extLst>
          </p:cNvPr>
          <p:cNvSpPr txBox="1"/>
          <p:nvPr/>
        </p:nvSpPr>
        <p:spPr>
          <a:xfrm>
            <a:off x="3015234" y="2927527"/>
            <a:ext cx="6158484" cy="646331"/>
          </a:xfrm>
          <a:prstGeom prst="rect">
            <a:avLst/>
          </a:prstGeom>
          <a:noFill/>
        </p:spPr>
        <p:txBody>
          <a:bodyPr wrap="square">
            <a:spAutoFit/>
          </a:bodyPr>
          <a:lstStyle/>
          <a:p>
            <a:pPr lvl="0">
              <a:tabLst>
                <a:tab pos="228600" algn="l"/>
              </a:tabLst>
            </a:pPr>
            <a:r>
              <a:rPr lang="da-DK" dirty="0">
                <a:latin typeface="Calibri" panose="020F0502020204030204" pitchFamily="34" charset="0"/>
                <a:ea typeface="Times New Roman" panose="02020603050405020304" pitchFamily="18" charset="0"/>
              </a:rPr>
              <a:t>6</a:t>
            </a:r>
            <a:r>
              <a:rPr lang="da-DK" sz="1800" dirty="0">
                <a:effectLst/>
                <a:latin typeface="Calibri" panose="020F0502020204030204" pitchFamily="34" charset="0"/>
                <a:ea typeface="Times New Roman" panose="02020603050405020304" pitchFamily="18" charset="0"/>
              </a:rPr>
              <a:t>. Hvor længe må man arbejde med åndedrætsværn </a:t>
            </a:r>
            <a:r>
              <a:rPr lang="da-DK" sz="1800" i="1" dirty="0">
                <a:effectLst/>
                <a:latin typeface="Calibri" panose="020F0502020204030204" pitchFamily="34" charset="0"/>
                <a:ea typeface="Times New Roman" panose="02020603050405020304" pitchFamily="18" charset="0"/>
              </a:rPr>
              <a:t>uden</a:t>
            </a:r>
            <a:r>
              <a:rPr lang="da-DK" sz="1800" dirty="0">
                <a:effectLst/>
                <a:latin typeface="Calibri" panose="020F0502020204030204" pitchFamily="34" charset="0"/>
                <a:ea typeface="Times New Roman" panose="02020603050405020304" pitchFamily="18" charset="0"/>
              </a:rPr>
              <a:t> nogen form for luftforsyning?</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D4B73AAC-E52E-F5A9-F8C2-8C832EDD9293}"/>
              </a:ext>
            </a:extLst>
          </p:cNvPr>
          <p:cNvSpPr txBox="1"/>
          <p:nvPr/>
        </p:nvSpPr>
        <p:spPr>
          <a:xfrm>
            <a:off x="3573624" y="4320073"/>
            <a:ext cx="3090911" cy="369332"/>
          </a:xfrm>
          <a:prstGeom prst="rect">
            <a:avLst/>
          </a:prstGeom>
          <a:noFill/>
        </p:spPr>
        <p:txBody>
          <a:bodyPr wrap="none" rtlCol="0">
            <a:spAutoFit/>
          </a:bodyPr>
          <a:lstStyle/>
          <a:p>
            <a:r>
              <a:rPr lang="da-DK" dirty="0"/>
              <a:t>Max 3 timer på en arbejdsdag</a:t>
            </a:r>
          </a:p>
        </p:txBody>
      </p:sp>
    </p:spTree>
    <p:extLst>
      <p:ext uri="{BB962C8B-B14F-4D97-AF65-F5344CB8AC3E}">
        <p14:creationId xmlns:p14="http://schemas.microsoft.com/office/powerpoint/2010/main" val="22276157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D4BC-624A-833F-2B09-9E0030F1F18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F05641ED-1A68-A612-B6E5-AE57BED3E008}"/>
              </a:ext>
            </a:extLst>
          </p:cNvPr>
          <p:cNvPicPr>
            <a:picLocks noChangeAspect="1"/>
          </p:cNvPicPr>
          <p:nvPr/>
        </p:nvPicPr>
        <p:blipFill>
          <a:blip r:embed="rId2"/>
          <a:stretch>
            <a:fillRect/>
          </a:stretch>
        </p:blipFill>
        <p:spPr>
          <a:xfrm>
            <a:off x="0" y="0"/>
            <a:ext cx="12192001" cy="6858001"/>
          </a:xfrm>
          <a:prstGeom prst="rect">
            <a:avLst/>
          </a:prstGeom>
        </p:spPr>
      </p:pic>
      <p:sp>
        <p:nvSpPr>
          <p:cNvPr id="3" name="Tekstfelt 2">
            <a:extLst>
              <a:ext uri="{FF2B5EF4-FFF2-40B4-BE49-F238E27FC236}">
                <a16:creationId xmlns:a16="http://schemas.microsoft.com/office/drawing/2014/main" id="{29BB03F8-2874-37FD-61DA-43E72E1B173B}"/>
              </a:ext>
            </a:extLst>
          </p:cNvPr>
          <p:cNvSpPr txBox="1"/>
          <p:nvPr/>
        </p:nvSpPr>
        <p:spPr>
          <a:xfrm>
            <a:off x="3015234" y="2927527"/>
            <a:ext cx="6158484" cy="646331"/>
          </a:xfrm>
          <a:prstGeom prst="rect">
            <a:avLst/>
          </a:prstGeom>
          <a:noFill/>
        </p:spPr>
        <p:txBody>
          <a:bodyPr wrap="square">
            <a:spAutoFit/>
          </a:bodyPr>
          <a:lstStyle/>
          <a:p>
            <a:pPr lvl="0">
              <a:tabLst>
                <a:tab pos="228600" algn="l"/>
              </a:tabLst>
            </a:pPr>
            <a:r>
              <a:rPr lang="da-DK" dirty="0">
                <a:latin typeface="Calibri" panose="020F0502020204030204" pitchFamily="34" charset="0"/>
                <a:ea typeface="Times New Roman" panose="02020603050405020304" pitchFamily="18" charset="0"/>
              </a:rPr>
              <a:t>7</a:t>
            </a:r>
            <a:r>
              <a:rPr lang="da-DK" sz="1800" dirty="0">
                <a:effectLst/>
                <a:latin typeface="Calibri" panose="020F0502020204030204" pitchFamily="34" charset="0"/>
                <a:ea typeface="Times New Roman" panose="02020603050405020304" pitchFamily="18" charset="0"/>
              </a:rPr>
              <a:t>. Hvilke krav stilles der til trykluft til </a:t>
            </a:r>
            <a:r>
              <a:rPr lang="da-DK" sz="1800" i="1" dirty="0">
                <a:effectLst/>
                <a:latin typeface="Calibri" panose="020F0502020204030204" pitchFamily="34" charset="0"/>
                <a:ea typeface="Times New Roman" panose="02020603050405020304" pitchFamily="18" charset="0"/>
              </a:rPr>
              <a:t>frisk</a:t>
            </a:r>
            <a:r>
              <a:rPr lang="da-DK" sz="1800" dirty="0">
                <a:effectLst/>
                <a:latin typeface="Calibri" panose="020F0502020204030204" pitchFamily="34" charset="0"/>
                <a:ea typeface="Times New Roman" panose="02020603050405020304" pitchFamily="18" charset="0"/>
              </a:rPr>
              <a:t>luftforsynet åndedrætsværn?</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5AF1E064-544D-488F-7635-EC7729BF3B62}"/>
              </a:ext>
            </a:extLst>
          </p:cNvPr>
          <p:cNvSpPr txBox="1"/>
          <p:nvPr/>
        </p:nvSpPr>
        <p:spPr>
          <a:xfrm>
            <a:off x="3010849" y="3744982"/>
            <a:ext cx="6935583" cy="369332"/>
          </a:xfrm>
          <a:prstGeom prst="rect">
            <a:avLst/>
          </a:prstGeom>
          <a:noFill/>
        </p:spPr>
        <p:txBody>
          <a:bodyPr wrap="square">
            <a:spAutoFit/>
          </a:bodyPr>
          <a:lstStyle/>
          <a:p>
            <a:r>
              <a:rPr lang="da-DK" sz="1800" dirty="0">
                <a:effectLst/>
                <a:latin typeface="Calibri" panose="020F0502020204030204" pitchFamily="34" charset="0"/>
                <a:ea typeface="Times New Roman" panose="02020603050405020304" pitchFamily="18" charset="0"/>
              </a:rPr>
              <a:t>Der er monteret et kul- og partikelfilter til rensning af kompressorluft.</a:t>
            </a:r>
            <a:endParaRPr lang="da-DK" dirty="0"/>
          </a:p>
        </p:txBody>
      </p:sp>
      <p:sp>
        <p:nvSpPr>
          <p:cNvPr id="7" name="Tekstfelt 6">
            <a:extLst>
              <a:ext uri="{FF2B5EF4-FFF2-40B4-BE49-F238E27FC236}">
                <a16:creationId xmlns:a16="http://schemas.microsoft.com/office/drawing/2014/main" id="{E0F197DC-5048-C5E8-ACBA-58445E12D7EA}"/>
              </a:ext>
            </a:extLst>
          </p:cNvPr>
          <p:cNvSpPr txBox="1"/>
          <p:nvPr/>
        </p:nvSpPr>
        <p:spPr>
          <a:xfrm>
            <a:off x="3013042" y="4312226"/>
            <a:ext cx="6162868" cy="1266950"/>
          </a:xfrm>
          <a:prstGeom prst="rect">
            <a:avLst/>
          </a:prstGeom>
          <a:noFill/>
        </p:spPr>
        <p:txBody>
          <a:bodyPr wrap="square">
            <a:spAutoFit/>
          </a:bodyPr>
          <a:lstStyle/>
          <a:p>
            <a:pPr>
              <a:lnSpc>
                <a:spcPct val="107000"/>
              </a:lnSpc>
              <a:spcAft>
                <a:spcPts val="800"/>
              </a:spcAft>
              <a:buNone/>
            </a:pPr>
            <a:r>
              <a:rPr lang="da-DK" sz="1800" kern="100" dirty="0">
                <a:effectLst/>
                <a:latin typeface="Calibri" panose="020F0502020204030204" pitchFamily="34" charset="0"/>
                <a:ea typeface="Times New Roman" panose="02020603050405020304" pitchFamily="18" charset="0"/>
                <a:cs typeface="Times New Roman" panose="02020603050405020304" pitchFamily="18" charset="0"/>
              </a:rPr>
              <a:t>Fra filterstationen, tilkobles en trykluftslange egnet til åndemiddel. Tilkoblingerne på denne slange har andre koblinger end dem man anvender til trykluftsværktøj – som ikke må anvendes til friskluftværnemidler. </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59269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80">
                                          <p:stCondLst>
                                            <p:cond delay="0"/>
                                          </p:stCondLst>
                                        </p:cTn>
                                        <p:tgtEl>
                                          <p:spTgt spid="7"/>
                                        </p:tgtEl>
                                      </p:cBhvr>
                                    </p:animEffect>
                                    <p:anim calcmode="lin" valueType="num">
                                      <p:cBhvr>
                                        <p:cTn id="15"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0" dur="26">
                                          <p:stCondLst>
                                            <p:cond delay="650"/>
                                          </p:stCondLst>
                                        </p:cTn>
                                        <p:tgtEl>
                                          <p:spTgt spid="7"/>
                                        </p:tgtEl>
                                      </p:cBhvr>
                                      <p:to x="100000" y="60000"/>
                                    </p:animScale>
                                    <p:animScale>
                                      <p:cBhvr>
                                        <p:cTn id="21" dur="166" decel="50000">
                                          <p:stCondLst>
                                            <p:cond delay="676"/>
                                          </p:stCondLst>
                                        </p:cTn>
                                        <p:tgtEl>
                                          <p:spTgt spid="7"/>
                                        </p:tgtEl>
                                      </p:cBhvr>
                                      <p:to x="100000" y="100000"/>
                                    </p:animScale>
                                    <p:animScale>
                                      <p:cBhvr>
                                        <p:cTn id="22" dur="26">
                                          <p:stCondLst>
                                            <p:cond delay="1312"/>
                                          </p:stCondLst>
                                        </p:cTn>
                                        <p:tgtEl>
                                          <p:spTgt spid="7"/>
                                        </p:tgtEl>
                                      </p:cBhvr>
                                      <p:to x="100000" y="80000"/>
                                    </p:animScale>
                                    <p:animScale>
                                      <p:cBhvr>
                                        <p:cTn id="23" dur="166" decel="50000">
                                          <p:stCondLst>
                                            <p:cond delay="1338"/>
                                          </p:stCondLst>
                                        </p:cTn>
                                        <p:tgtEl>
                                          <p:spTgt spid="7"/>
                                        </p:tgtEl>
                                      </p:cBhvr>
                                      <p:to x="100000" y="100000"/>
                                    </p:animScale>
                                    <p:animScale>
                                      <p:cBhvr>
                                        <p:cTn id="24" dur="26">
                                          <p:stCondLst>
                                            <p:cond delay="1642"/>
                                          </p:stCondLst>
                                        </p:cTn>
                                        <p:tgtEl>
                                          <p:spTgt spid="7"/>
                                        </p:tgtEl>
                                      </p:cBhvr>
                                      <p:to x="100000" y="90000"/>
                                    </p:animScale>
                                    <p:animScale>
                                      <p:cBhvr>
                                        <p:cTn id="25" dur="166" decel="50000">
                                          <p:stCondLst>
                                            <p:cond delay="1668"/>
                                          </p:stCondLst>
                                        </p:cTn>
                                        <p:tgtEl>
                                          <p:spTgt spid="7"/>
                                        </p:tgtEl>
                                      </p:cBhvr>
                                      <p:to x="100000" y="100000"/>
                                    </p:animScale>
                                    <p:animScale>
                                      <p:cBhvr>
                                        <p:cTn id="26" dur="26">
                                          <p:stCondLst>
                                            <p:cond delay="1808"/>
                                          </p:stCondLst>
                                        </p:cTn>
                                        <p:tgtEl>
                                          <p:spTgt spid="7"/>
                                        </p:tgtEl>
                                      </p:cBhvr>
                                      <p:to x="100000" y="95000"/>
                                    </p:animScale>
                                    <p:animScale>
                                      <p:cBhvr>
                                        <p:cTn id="27"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AF942-C6A4-47C3-BAD4-FCED774B5EB4}"/>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69E9F679-2222-BDCB-17B2-7A82800EE4D9}"/>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2B3D3E10-A373-6927-E014-74CBFF9A843D}"/>
              </a:ext>
            </a:extLst>
          </p:cNvPr>
          <p:cNvSpPr txBox="1"/>
          <p:nvPr/>
        </p:nvSpPr>
        <p:spPr>
          <a:xfrm>
            <a:off x="3016121" y="2923888"/>
            <a:ext cx="6162868" cy="646331"/>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8. Hvorfor kontrolleres at åndedrætsværnet også kan anvendes uden luftforsyning?</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A6DEAAA7-8A85-0B55-EB85-4E48EEC0AB6A}"/>
              </a:ext>
            </a:extLst>
          </p:cNvPr>
          <p:cNvSpPr txBox="1"/>
          <p:nvPr/>
        </p:nvSpPr>
        <p:spPr>
          <a:xfrm>
            <a:off x="1642187" y="3918857"/>
            <a:ext cx="8692188" cy="646331"/>
          </a:xfrm>
          <a:prstGeom prst="rect">
            <a:avLst/>
          </a:prstGeom>
          <a:noFill/>
        </p:spPr>
        <p:txBody>
          <a:bodyPr wrap="none" rtlCol="0">
            <a:spAutoFit/>
          </a:bodyPr>
          <a:lstStyle/>
          <a:p>
            <a:r>
              <a:rPr lang="da-DK" dirty="0"/>
              <a:t>Man skal kunne komme rundt ved til flere slanger, igennem døre og andre forhindringer</a:t>
            </a:r>
          </a:p>
          <a:p>
            <a:r>
              <a:rPr lang="da-DK" dirty="0"/>
              <a:t>Samt i tilfælde at strømsvigt</a:t>
            </a:r>
          </a:p>
        </p:txBody>
      </p:sp>
    </p:spTree>
    <p:extLst>
      <p:ext uri="{BB962C8B-B14F-4D97-AF65-F5344CB8AC3E}">
        <p14:creationId xmlns:p14="http://schemas.microsoft.com/office/powerpoint/2010/main" val="18511433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01660-B161-C3E9-1815-B3395443DDB7}"/>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CB15C18-6F1E-53C0-9DF4-214F3BCA5938}"/>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5492A8F3-6149-1F60-6E57-91905749E7C4}"/>
              </a:ext>
            </a:extLst>
          </p:cNvPr>
          <p:cNvSpPr txBox="1"/>
          <p:nvPr/>
        </p:nvSpPr>
        <p:spPr>
          <a:xfrm>
            <a:off x="3015234" y="3066026"/>
            <a:ext cx="6158484" cy="369332"/>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9. Hvorfor anvender man sikkerhed overtryk i maskerne?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4AE44143-64C1-13E5-DB56-1A7974A0FF40}"/>
              </a:ext>
            </a:extLst>
          </p:cNvPr>
          <p:cNvSpPr txBox="1"/>
          <p:nvPr/>
        </p:nvSpPr>
        <p:spPr>
          <a:xfrm>
            <a:off x="4683967" y="4021494"/>
            <a:ext cx="4919937" cy="369332"/>
          </a:xfrm>
          <a:prstGeom prst="rect">
            <a:avLst/>
          </a:prstGeom>
          <a:noFill/>
        </p:spPr>
        <p:txBody>
          <a:bodyPr wrap="none" rtlCol="0">
            <a:spAutoFit/>
          </a:bodyPr>
          <a:lstStyle/>
          <a:p>
            <a:r>
              <a:rPr lang="da-DK" dirty="0"/>
              <a:t>For at holde støv væk fra at komme ind i masken</a:t>
            </a:r>
          </a:p>
        </p:txBody>
      </p:sp>
    </p:spTree>
    <p:extLst>
      <p:ext uri="{BB962C8B-B14F-4D97-AF65-F5344CB8AC3E}">
        <p14:creationId xmlns:p14="http://schemas.microsoft.com/office/powerpoint/2010/main" val="164231730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203B-7FBD-60F8-ACAF-4B59D23A5999}"/>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968BA55-EF26-5707-74F8-5E626016A082}"/>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72116030-8F8F-37FE-E16E-81E9E4309DB2}"/>
              </a:ext>
            </a:extLst>
          </p:cNvPr>
          <p:cNvSpPr txBox="1"/>
          <p:nvPr/>
        </p:nvSpPr>
        <p:spPr>
          <a:xfrm>
            <a:off x="3015234" y="2927527"/>
            <a:ext cx="6158484" cy="646331"/>
          </a:xfrm>
          <a:prstGeom prst="rect">
            <a:avLst/>
          </a:prstGeom>
          <a:noFill/>
        </p:spPr>
        <p:txBody>
          <a:bodyPr wrap="square">
            <a:spAutoFit/>
          </a:bodyPr>
          <a:lstStyle/>
          <a:p>
            <a:pPr lvl="0">
              <a:tabLst>
                <a:tab pos="228600" algn="l"/>
              </a:tabLst>
            </a:pPr>
            <a:r>
              <a:rPr lang="da-DK" dirty="0">
                <a:latin typeface="Calibri" panose="020F0502020204030204" pitchFamily="34" charset="0"/>
                <a:ea typeface="Times New Roman" panose="02020603050405020304" pitchFamily="18" charset="0"/>
              </a:rPr>
              <a:t>10</a:t>
            </a:r>
            <a:r>
              <a:rPr lang="da-DK" sz="1800" dirty="0">
                <a:effectLst/>
                <a:latin typeface="Calibri" panose="020F0502020204030204" pitchFamily="34" charset="0"/>
                <a:ea typeface="Times New Roman" panose="02020603050405020304" pitchFamily="18" charset="0"/>
              </a:rPr>
              <a:t>. Hvilket åndedrætsværn ville </a:t>
            </a:r>
            <a:r>
              <a:rPr lang="da-DK" sz="1800" b="1" dirty="0">
                <a:effectLst/>
                <a:latin typeface="Calibri" panose="020F0502020204030204" pitchFamily="34" charset="0"/>
                <a:ea typeface="Times New Roman" panose="02020603050405020304" pitchFamily="18" charset="0"/>
              </a:rPr>
              <a:t>du</a:t>
            </a:r>
            <a:r>
              <a:rPr lang="da-DK" sz="1800" dirty="0">
                <a:effectLst/>
                <a:latin typeface="Calibri" panose="020F0502020204030204" pitchFamily="34" charset="0"/>
                <a:ea typeface="Times New Roman" panose="02020603050405020304" pitchFamily="18" charset="0"/>
              </a:rPr>
              <a:t> vælge ved fjernelse af asbestholdig rørisolering i fyrrum?</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256AE4BF-EF34-4C15-87A1-D48560A80D90}"/>
              </a:ext>
            </a:extLst>
          </p:cNvPr>
          <p:cNvSpPr txBox="1"/>
          <p:nvPr/>
        </p:nvSpPr>
        <p:spPr>
          <a:xfrm>
            <a:off x="3097763" y="4030824"/>
            <a:ext cx="6451253" cy="369332"/>
          </a:xfrm>
          <a:prstGeom prst="rect">
            <a:avLst/>
          </a:prstGeom>
          <a:noFill/>
        </p:spPr>
        <p:txBody>
          <a:bodyPr wrap="none" rtlCol="0">
            <a:spAutoFit/>
          </a:bodyPr>
          <a:lstStyle/>
          <a:p>
            <a:r>
              <a:rPr lang="da-DK" dirty="0"/>
              <a:t>Afhængig af arbejdsmængden ville jeg vælge turbo eller friskluft</a:t>
            </a:r>
          </a:p>
        </p:txBody>
      </p:sp>
    </p:spTree>
    <p:extLst>
      <p:ext uri="{BB962C8B-B14F-4D97-AF65-F5344CB8AC3E}">
        <p14:creationId xmlns:p14="http://schemas.microsoft.com/office/powerpoint/2010/main" val="3243048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77679-E140-CB56-4ACC-A9BB58ACDC5C}"/>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9BB4AC55-A48F-CA5D-FAC0-618E0FD60B54}"/>
              </a:ext>
            </a:extLst>
          </p:cNvPr>
          <p:cNvPicPr>
            <a:picLocks noChangeAspect="1"/>
          </p:cNvPicPr>
          <p:nvPr/>
        </p:nvPicPr>
        <p:blipFill>
          <a:blip r:embed="rId2"/>
          <a:stretch>
            <a:fillRect/>
          </a:stretch>
        </p:blipFill>
        <p:spPr>
          <a:xfrm>
            <a:off x="-1" y="-1"/>
            <a:ext cx="12192001" cy="6858001"/>
          </a:xfrm>
          <a:prstGeom prst="rect">
            <a:avLst/>
          </a:prstGeom>
        </p:spPr>
      </p:pic>
      <p:sp>
        <p:nvSpPr>
          <p:cNvPr id="2" name="Tekstfelt 1">
            <a:extLst>
              <a:ext uri="{FF2B5EF4-FFF2-40B4-BE49-F238E27FC236}">
                <a16:creationId xmlns:a16="http://schemas.microsoft.com/office/drawing/2014/main" id="{5F7B49C3-4254-0B51-7C2B-C37052C86C0B}"/>
              </a:ext>
            </a:extLst>
          </p:cNvPr>
          <p:cNvSpPr txBox="1"/>
          <p:nvPr/>
        </p:nvSpPr>
        <p:spPr>
          <a:xfrm>
            <a:off x="3703320" y="420624"/>
            <a:ext cx="2367123" cy="646331"/>
          </a:xfrm>
          <a:prstGeom prst="rect">
            <a:avLst/>
          </a:prstGeom>
          <a:noFill/>
        </p:spPr>
        <p:txBody>
          <a:bodyPr wrap="none" rtlCol="0">
            <a:spAutoFit/>
          </a:bodyPr>
          <a:lstStyle/>
          <a:p>
            <a:r>
              <a:rPr lang="da-DK" dirty="0"/>
              <a:t>SVAR Arbejdsområdet</a:t>
            </a:r>
          </a:p>
          <a:p>
            <a:endParaRPr lang="da-DK" dirty="0"/>
          </a:p>
        </p:txBody>
      </p:sp>
      <p:sp>
        <p:nvSpPr>
          <p:cNvPr id="4" name="Tekstfelt 3">
            <a:extLst>
              <a:ext uri="{FF2B5EF4-FFF2-40B4-BE49-F238E27FC236}">
                <a16:creationId xmlns:a16="http://schemas.microsoft.com/office/drawing/2014/main" id="{1908F790-DE3E-495B-A41D-BBC03178408D}"/>
              </a:ext>
            </a:extLst>
          </p:cNvPr>
          <p:cNvSpPr txBox="1"/>
          <p:nvPr/>
        </p:nvSpPr>
        <p:spPr>
          <a:xfrm>
            <a:off x="2402586" y="1767578"/>
            <a:ext cx="6158484" cy="369332"/>
          </a:xfrm>
          <a:prstGeom prst="rect">
            <a:avLst/>
          </a:prstGeom>
          <a:noFill/>
        </p:spPr>
        <p:txBody>
          <a:bodyPr wrap="square">
            <a:spAutoFit/>
          </a:bodyPr>
          <a:lstStyle/>
          <a:p>
            <a:pPr marL="342900" lvl="0" indent="-342900">
              <a:buFont typeface="+mj-lt"/>
              <a:buAutoNum type="arabicPeriod"/>
            </a:pPr>
            <a:r>
              <a:rPr lang="da-DK" sz="1800" dirty="0">
                <a:effectLst/>
                <a:latin typeface="Calibri" panose="020F0502020204030204" pitchFamily="34" charset="0"/>
                <a:ea typeface="Times New Roman" panose="02020603050405020304" pitchFamily="18" charset="0"/>
              </a:rPr>
              <a:t>Hvorledes og hvortil bortskaffes asbestholdigt affald?</a:t>
            </a:r>
            <a:endParaRPr lang="da-DK" sz="1800" dirty="0">
              <a:effectLst/>
              <a:latin typeface="Times New Roman" panose="02020603050405020304" pitchFamily="18" charset="0"/>
              <a:ea typeface="Times New Roman" panose="02020603050405020304" pitchFamily="18" charset="0"/>
            </a:endParaRPr>
          </a:p>
        </p:txBody>
      </p:sp>
      <p:sp>
        <p:nvSpPr>
          <p:cNvPr id="3" name="Tekstfelt 2">
            <a:extLst>
              <a:ext uri="{FF2B5EF4-FFF2-40B4-BE49-F238E27FC236}">
                <a16:creationId xmlns:a16="http://schemas.microsoft.com/office/drawing/2014/main" id="{E3A6D7E3-E169-7F7F-8CDF-B5DA5DB76E1E}"/>
              </a:ext>
            </a:extLst>
          </p:cNvPr>
          <p:cNvSpPr txBox="1"/>
          <p:nvPr/>
        </p:nvSpPr>
        <p:spPr>
          <a:xfrm>
            <a:off x="2603241" y="2855167"/>
            <a:ext cx="7596054" cy="369332"/>
          </a:xfrm>
          <a:prstGeom prst="rect">
            <a:avLst/>
          </a:prstGeom>
          <a:noFill/>
        </p:spPr>
        <p:txBody>
          <a:bodyPr wrap="none" rtlCol="0">
            <a:spAutoFit/>
          </a:bodyPr>
          <a:lstStyle/>
          <a:p>
            <a:r>
              <a:rPr lang="da-DK" dirty="0"/>
              <a:t>Støvsugning, indpakning i 2 lag plast, transport i bigbags til godkendt deponi</a:t>
            </a:r>
          </a:p>
        </p:txBody>
      </p:sp>
    </p:spTree>
    <p:extLst>
      <p:ext uri="{BB962C8B-B14F-4D97-AF65-F5344CB8AC3E}">
        <p14:creationId xmlns:p14="http://schemas.microsoft.com/office/powerpoint/2010/main" val="11941442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7954B-0B40-089A-8F5C-B8174FC05E8F}"/>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561B697-9147-51C8-9AF3-47980D9A448F}"/>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6396FE53-AC8F-B02E-27CE-718288C7CB0A}"/>
              </a:ext>
            </a:extLst>
          </p:cNvPr>
          <p:cNvSpPr txBox="1"/>
          <p:nvPr/>
        </p:nvSpPr>
        <p:spPr>
          <a:xfrm>
            <a:off x="3015234" y="3066026"/>
            <a:ext cx="6158484" cy="369332"/>
          </a:xfrm>
          <a:prstGeom prst="rect">
            <a:avLst/>
          </a:prstGeom>
          <a:noFill/>
        </p:spPr>
        <p:txBody>
          <a:bodyPr wrap="square">
            <a:spAutoFit/>
          </a:bodyPr>
          <a:lstStyle/>
          <a:p>
            <a:pPr lvl="0"/>
            <a:r>
              <a:rPr lang="da-DK" sz="1800" dirty="0">
                <a:effectLst/>
                <a:latin typeface="Calibri" panose="020F0502020204030204" pitchFamily="34" charset="0"/>
                <a:ea typeface="Times New Roman" panose="02020603050405020304" pitchFamily="18" charset="0"/>
              </a:rPr>
              <a:t>2. Hvornår anser man rengøringen for at være </a:t>
            </a:r>
            <a:r>
              <a:rPr lang="da-DK" sz="1800" i="1" dirty="0">
                <a:effectLst/>
                <a:latin typeface="Calibri" panose="020F0502020204030204" pitchFamily="34" charset="0"/>
                <a:ea typeface="Times New Roman" panose="02020603050405020304" pitchFamily="18" charset="0"/>
              </a:rPr>
              <a:t>acceptabel</a:t>
            </a:r>
            <a:r>
              <a:rPr lang="da-DK" sz="1800" dirty="0">
                <a:effectLst/>
                <a:latin typeface="Calibri" panose="020F0502020204030204" pitchFamily="34" charset="0"/>
                <a:ea typeface="Times New Roman" panose="02020603050405020304" pitchFamily="18" charset="0"/>
              </a:rPr>
              <a:t>?</a:t>
            </a:r>
            <a:endParaRPr lang="da-DK" sz="1800" dirty="0">
              <a:effectLst/>
              <a:latin typeface="Times New Roman" panose="02020603050405020304" pitchFamily="18" charset="0"/>
              <a:ea typeface="Times New Roman" panose="02020603050405020304" pitchFamily="18" charset="0"/>
            </a:endParaRPr>
          </a:p>
        </p:txBody>
      </p:sp>
      <p:sp>
        <p:nvSpPr>
          <p:cNvPr id="6" name="Tekstfelt 5">
            <a:extLst>
              <a:ext uri="{FF2B5EF4-FFF2-40B4-BE49-F238E27FC236}">
                <a16:creationId xmlns:a16="http://schemas.microsoft.com/office/drawing/2014/main" id="{4B686E61-B9D6-64AE-70DC-0208CDB8652B}"/>
              </a:ext>
            </a:extLst>
          </p:cNvPr>
          <p:cNvSpPr txBox="1"/>
          <p:nvPr/>
        </p:nvSpPr>
        <p:spPr>
          <a:xfrm>
            <a:off x="3015234" y="3986891"/>
            <a:ext cx="7985558" cy="1200329"/>
          </a:xfrm>
          <a:prstGeom prst="rect">
            <a:avLst/>
          </a:prstGeom>
          <a:noFill/>
        </p:spPr>
        <p:txBody>
          <a:bodyPr wrap="square">
            <a:spAutoFit/>
          </a:bodyPr>
          <a:lstStyle/>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Ved luftmåling? Hvis det er et krav fra bygherren</a:t>
            </a:r>
            <a:endParaRPr lang="da-DK" sz="1800" dirty="0">
              <a:effectLst/>
              <a:latin typeface="Times New Roman" panose="02020603050405020304" pitchFamily="18" charset="0"/>
              <a:ea typeface="Times New Roman" panose="02020603050405020304" pitchFamily="18" charset="0"/>
            </a:endParaRPr>
          </a:p>
          <a:p>
            <a:pPr marL="228600">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Ved geltest?</a:t>
            </a:r>
            <a:endParaRPr lang="da-DK" dirty="0">
              <a:latin typeface="Calibri" panose="020F0502020204030204" pitchFamily="34" charset="0"/>
              <a:ea typeface="Times New Roman" panose="02020603050405020304" pitchFamily="18" charset="0"/>
            </a:endParaRPr>
          </a:p>
          <a:p>
            <a:pPr lvl="0"/>
            <a:r>
              <a:rPr lang="da-DK" dirty="0"/>
              <a:t> Efter en eller to gange rengøring udføres kvalitetskontrol fx med geltape</a:t>
            </a:r>
            <a:endParaRPr lang="da-DK"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2759654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A1188-CB09-4281-C34C-69CED130823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445EC722-FB15-2DF8-9321-64CACF844FDB}"/>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F892B432-699C-6565-4FF6-057B6A711F7E}"/>
              </a:ext>
            </a:extLst>
          </p:cNvPr>
          <p:cNvSpPr txBox="1"/>
          <p:nvPr/>
        </p:nvSpPr>
        <p:spPr>
          <a:xfrm>
            <a:off x="3288900" y="1347161"/>
            <a:ext cx="6158484" cy="2585323"/>
          </a:xfrm>
          <a:prstGeom prst="rect">
            <a:avLst/>
          </a:prstGeom>
          <a:noFill/>
        </p:spPr>
        <p:txBody>
          <a:bodyPr wrap="square">
            <a:spAutoFit/>
          </a:bodyPr>
          <a:lstStyle/>
          <a:p>
            <a:pPr lvl="0"/>
            <a:r>
              <a:rPr lang="da-DK" sz="1800" dirty="0">
                <a:effectLst/>
                <a:latin typeface="Calibri" panose="020F0502020204030204" pitchFamily="34" charset="0"/>
                <a:ea typeface="Times New Roman" panose="02020603050405020304" pitchFamily="18" charset="0"/>
              </a:rPr>
              <a:t>3. Beskriv </a:t>
            </a:r>
            <a:r>
              <a:rPr lang="da-DK" sz="1800" i="1" dirty="0">
                <a:effectLst/>
                <a:latin typeface="Calibri" panose="020F0502020204030204" pitchFamily="34" charset="0"/>
                <a:ea typeface="Times New Roman" panose="02020603050405020304" pitchFamily="18" charset="0"/>
              </a:rPr>
              <a:t>detaljeret</a:t>
            </a:r>
            <a:r>
              <a:rPr lang="da-DK" sz="1800" dirty="0">
                <a:effectLst/>
                <a:latin typeface="Calibri" panose="020F0502020204030204" pitchFamily="34" charset="0"/>
                <a:ea typeface="Times New Roman" panose="02020603050405020304" pitchFamily="18" charset="0"/>
              </a:rPr>
              <a:t> slutrengøringen:</a:t>
            </a:r>
            <a:endParaRPr lang="da-DK" sz="1800" dirty="0">
              <a:effectLst/>
              <a:latin typeface="Times New Roman" panose="02020603050405020304" pitchFamily="18" charset="0"/>
              <a:ea typeface="Times New Roman" panose="02020603050405020304" pitchFamily="18" charset="0"/>
            </a:endParaRPr>
          </a:p>
          <a:p>
            <a:pPr marL="228600">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Hvornår? Når alt asbest arbejde er afsluttet</a:t>
            </a:r>
            <a:endParaRPr lang="da-DK" sz="1800" dirty="0">
              <a:effectLst/>
              <a:latin typeface="Times New Roman" panose="02020603050405020304" pitchFamily="18" charset="0"/>
              <a:ea typeface="Times New Roman" panose="02020603050405020304" pitchFamily="18" charset="0"/>
            </a:endParaRPr>
          </a:p>
          <a:p>
            <a:pPr>
              <a:buNone/>
            </a:pPr>
            <a:r>
              <a:rPr lang="da-DK" sz="1800" i="1" dirty="0">
                <a:solidFill>
                  <a:srgbClr val="FF0000"/>
                </a:solidFill>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Hvordan? </a:t>
            </a:r>
          </a:p>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1. rengøring Støvsugning, afvask med vand og sulfo, gentages efter 24 timer. </a:t>
            </a:r>
          </a:p>
          <a:p>
            <a:pPr marL="342900" lvl="0" indent="-342900">
              <a:buFont typeface="+mj-lt"/>
              <a:buAutoNum type="alphaLcParenR"/>
            </a:pPr>
            <a:r>
              <a:rPr lang="da-DK" sz="1800" dirty="0">
                <a:effectLst/>
                <a:latin typeface="Calibri" panose="020F0502020204030204" pitchFamily="34" charset="0"/>
                <a:ea typeface="Times New Roman" panose="02020603050405020304" pitchFamily="18" charset="0"/>
              </a:rPr>
              <a:t>2. rengøring på samme måde  </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42FA367E-3693-0192-1A12-2BECC1867776}"/>
              </a:ext>
            </a:extLst>
          </p:cNvPr>
          <p:cNvSpPr txBox="1"/>
          <p:nvPr/>
        </p:nvSpPr>
        <p:spPr>
          <a:xfrm>
            <a:off x="933061" y="4958852"/>
            <a:ext cx="10870163" cy="776816"/>
          </a:xfrm>
          <a:prstGeom prst="rect">
            <a:avLst/>
          </a:prstGeom>
          <a:noFill/>
        </p:spPr>
        <p:txBody>
          <a:bodyPr wrap="square">
            <a:spAutoFit/>
          </a:bodyPr>
          <a:lstStyle/>
          <a:p>
            <a:pPr marR="253365" eaLnBrk="0" hangingPunct="0">
              <a:lnSpc>
                <a:spcPct val="107000"/>
              </a:lnSpc>
              <a:spcAft>
                <a:spcPts val="800"/>
              </a:spcAft>
              <a:buNone/>
            </a:pPr>
            <a:r>
              <a:rPr lang="da-DK" sz="1800" kern="100" dirty="0">
                <a:effectLst/>
                <a:latin typeface="Calibri" panose="020F0502020204030204" pitchFamily="34" charset="0"/>
                <a:ea typeface="Times New Roman" panose="02020603050405020304" pitchFamily="18" charset="0"/>
                <a:cs typeface="Times New Roman" panose="02020603050405020304" pitchFamily="18" charset="0"/>
              </a:rPr>
              <a:t>Man kan herefter udtage prøver for at kunne dokumentere at rummet er renset for asbestfibre.</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da-DK" sz="1800" kern="100" dirty="0">
                <a:effectLst/>
                <a:latin typeface="Calibri" panose="020F0502020204030204" pitchFamily="34" charset="0"/>
                <a:ea typeface="Times New Roman" panose="02020603050405020304" pitchFamily="18" charset="0"/>
                <a:cs typeface="Times New Roman" panose="02020603050405020304" pitchFamily="18" charset="0"/>
              </a:rPr>
              <a:t>Rengøringen og prøvetagningen foretages med samme værnemidler som under asbestsaneringen.</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39860792"/>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90"/>
                                          </p:val>
                                        </p:tav>
                                        <p:tav tm="100000">
                                          <p:val>
                                            <p:fltVal val="0"/>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A352-5DEC-D4BF-4A15-98F1A312FA0D}"/>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848C763C-49AB-AB6D-F2E6-ACAEA3C68493}"/>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A581E9D3-D5AF-24E9-5CA2-BCC2F03B2886}"/>
              </a:ext>
            </a:extLst>
          </p:cNvPr>
          <p:cNvSpPr txBox="1"/>
          <p:nvPr/>
        </p:nvSpPr>
        <p:spPr>
          <a:xfrm>
            <a:off x="3015234" y="2927527"/>
            <a:ext cx="6158484" cy="646331"/>
          </a:xfrm>
          <a:prstGeom prst="rect">
            <a:avLst/>
          </a:prstGeom>
          <a:noFill/>
        </p:spPr>
        <p:txBody>
          <a:bodyPr wrap="square">
            <a:spAutoFit/>
          </a:bodyPr>
          <a:lstStyle/>
          <a:p>
            <a:pPr>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lvl="0"/>
            <a:r>
              <a:rPr lang="da-DK" sz="1800" dirty="0">
                <a:effectLst/>
                <a:latin typeface="Calibri" panose="020F0502020204030204" pitchFamily="34" charset="0"/>
                <a:ea typeface="Times New Roman" panose="02020603050405020304" pitchFamily="18" charset="0"/>
              </a:rPr>
              <a:t>4. Hvilken type af støvsuger anvendes ved asbestarbejde?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8C8CF998-7E76-B1A5-8A79-EE3D1840548E}"/>
              </a:ext>
            </a:extLst>
          </p:cNvPr>
          <p:cNvSpPr txBox="1"/>
          <p:nvPr/>
        </p:nvSpPr>
        <p:spPr>
          <a:xfrm>
            <a:off x="1735109" y="4312571"/>
            <a:ext cx="8991692" cy="369332"/>
          </a:xfrm>
          <a:prstGeom prst="rect">
            <a:avLst/>
          </a:prstGeom>
          <a:noFill/>
        </p:spPr>
        <p:txBody>
          <a:bodyPr wrap="none" rtlCol="0">
            <a:spAutoFit/>
          </a:bodyPr>
          <a:lstStyle/>
          <a:p>
            <a:r>
              <a:rPr lang="da-DK" dirty="0"/>
              <a:t>Støvsuger og luftrenser skal være godkendte til asbestarbejde og være med HEPA-13 filter</a:t>
            </a:r>
          </a:p>
        </p:txBody>
      </p:sp>
    </p:spTree>
    <p:extLst>
      <p:ext uri="{BB962C8B-B14F-4D97-AF65-F5344CB8AC3E}">
        <p14:creationId xmlns:p14="http://schemas.microsoft.com/office/powerpoint/2010/main" val="3010461950"/>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7BE53-02E7-1A90-1979-313BE4242579}"/>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5F20A905-D1E7-83C7-7A2C-2F2D8CCB4D1B}"/>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049E4F30-52D7-54A1-5AB4-5CBC4C1557D7}"/>
              </a:ext>
            </a:extLst>
          </p:cNvPr>
          <p:cNvSpPr txBox="1"/>
          <p:nvPr/>
        </p:nvSpPr>
        <p:spPr>
          <a:xfrm>
            <a:off x="3015234" y="2789027"/>
            <a:ext cx="6158484" cy="923330"/>
          </a:xfrm>
          <a:prstGeom prst="rect">
            <a:avLst/>
          </a:prstGeom>
          <a:noFill/>
        </p:spPr>
        <p:txBody>
          <a:bodyPr wrap="square">
            <a:spAutoFit/>
          </a:bodyPr>
          <a:lstStyle/>
          <a:p>
            <a:pPr lvl="0"/>
            <a:r>
              <a:rPr lang="da-DK" sz="1800" dirty="0">
                <a:effectLst/>
                <a:latin typeface="Calibri" panose="020F0502020204030204" pitchFamily="34" charset="0"/>
                <a:ea typeface="Times New Roman" panose="02020603050405020304" pitchFamily="18" charset="0"/>
              </a:rPr>
              <a:t>5. Hvordan vil du hindre at asbeststøv breder sig fra et baderum hvor der skal fjernes to fliser </a:t>
            </a:r>
            <a:r>
              <a:rPr lang="da-DK" sz="1800" dirty="0" err="1">
                <a:effectLst/>
                <a:latin typeface="Calibri" panose="020F0502020204030204" pitchFamily="34" charset="0"/>
                <a:ea typeface="Times New Roman" panose="02020603050405020304" pitchFamily="18" charset="0"/>
              </a:rPr>
              <a:t>oplimet</a:t>
            </a:r>
            <a:r>
              <a:rPr lang="da-DK" sz="1800" dirty="0">
                <a:effectLst/>
                <a:latin typeface="Calibri" panose="020F0502020204030204" pitchFamily="34" charset="0"/>
                <a:ea typeface="Times New Roman" panose="02020603050405020304" pitchFamily="18" charset="0"/>
              </a:rPr>
              <a:t> med asbestholdig fliseklæb?</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4B8CD617-89DE-17B3-C538-702641EC0CB2}"/>
              </a:ext>
            </a:extLst>
          </p:cNvPr>
          <p:cNvSpPr txBox="1"/>
          <p:nvPr/>
        </p:nvSpPr>
        <p:spPr>
          <a:xfrm>
            <a:off x="3620278" y="4413380"/>
            <a:ext cx="5466368" cy="369332"/>
          </a:xfrm>
          <a:prstGeom prst="rect">
            <a:avLst/>
          </a:prstGeom>
          <a:noFill/>
        </p:spPr>
        <p:txBody>
          <a:bodyPr wrap="none" rtlCol="0">
            <a:spAutoFit/>
          </a:bodyPr>
          <a:lstStyle/>
          <a:p>
            <a:r>
              <a:rPr lang="da-DK" dirty="0"/>
              <a:t>Telefonboks eller kuvøse løsning kunne måske bruges</a:t>
            </a:r>
          </a:p>
        </p:txBody>
      </p:sp>
    </p:spTree>
    <p:extLst>
      <p:ext uri="{BB962C8B-B14F-4D97-AF65-F5344CB8AC3E}">
        <p14:creationId xmlns:p14="http://schemas.microsoft.com/office/powerpoint/2010/main" val="185643149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680F-E7FF-DF8B-B434-69CBBDD4FA31}"/>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9A305B9-BC52-2569-F9AA-9E276132B7EB}"/>
              </a:ext>
            </a:extLst>
          </p:cNvPr>
          <p:cNvPicPr>
            <a:picLocks noChangeAspect="1"/>
          </p:cNvPicPr>
          <p:nvPr/>
        </p:nvPicPr>
        <p:blipFill>
          <a:blip r:embed="rId2"/>
          <a:stretch>
            <a:fillRect/>
          </a:stretch>
        </p:blipFill>
        <p:spPr>
          <a:xfrm>
            <a:off x="-1" y="-1"/>
            <a:ext cx="12192001" cy="6858001"/>
          </a:xfrm>
          <a:prstGeom prst="rect">
            <a:avLst/>
          </a:prstGeom>
        </p:spPr>
      </p:pic>
      <p:sp>
        <p:nvSpPr>
          <p:cNvPr id="2" name="Tekstfelt 1">
            <a:extLst>
              <a:ext uri="{FF2B5EF4-FFF2-40B4-BE49-F238E27FC236}">
                <a16:creationId xmlns:a16="http://schemas.microsoft.com/office/drawing/2014/main" id="{E92A78E0-651D-6816-29A7-3384AD96FD46}"/>
              </a:ext>
            </a:extLst>
          </p:cNvPr>
          <p:cNvSpPr txBox="1"/>
          <p:nvPr/>
        </p:nvSpPr>
        <p:spPr>
          <a:xfrm>
            <a:off x="4005072" y="283464"/>
            <a:ext cx="3162725" cy="646331"/>
          </a:xfrm>
          <a:prstGeom prst="rect">
            <a:avLst/>
          </a:prstGeom>
          <a:noFill/>
        </p:spPr>
        <p:txBody>
          <a:bodyPr wrap="none" rtlCol="0">
            <a:spAutoFit/>
          </a:bodyPr>
          <a:lstStyle/>
          <a:p>
            <a:r>
              <a:rPr lang="da-DK" dirty="0"/>
              <a:t>SVAR Asbestbekendtgørelsen </a:t>
            </a:r>
          </a:p>
          <a:p>
            <a:endParaRPr lang="da-DK" dirty="0"/>
          </a:p>
        </p:txBody>
      </p:sp>
      <p:sp>
        <p:nvSpPr>
          <p:cNvPr id="4" name="Tekstfelt 3">
            <a:extLst>
              <a:ext uri="{FF2B5EF4-FFF2-40B4-BE49-F238E27FC236}">
                <a16:creationId xmlns:a16="http://schemas.microsoft.com/office/drawing/2014/main" id="{4DBC43B9-4217-7944-FB41-FC12CAADF159}"/>
              </a:ext>
            </a:extLst>
          </p:cNvPr>
          <p:cNvSpPr txBox="1"/>
          <p:nvPr/>
        </p:nvSpPr>
        <p:spPr>
          <a:xfrm>
            <a:off x="3015234" y="3066026"/>
            <a:ext cx="6158484" cy="369332"/>
          </a:xfrm>
          <a:prstGeom prst="rect">
            <a:avLst/>
          </a:prstGeom>
          <a:noFill/>
        </p:spPr>
        <p:txBody>
          <a:bodyPr wrap="square">
            <a:spAutoFit/>
          </a:bodyPr>
          <a:lstStyle/>
          <a:p>
            <a:pPr marL="342900" lvl="0" indent="-342900">
              <a:buFont typeface="+mj-lt"/>
              <a:buAutoNum type="arabicPeriod"/>
              <a:tabLst>
                <a:tab pos="228600" algn="l"/>
              </a:tabLst>
            </a:pPr>
            <a:r>
              <a:rPr lang="da-DK" sz="1800" dirty="0">
                <a:effectLst/>
                <a:latin typeface="Calibri" panose="020F0502020204030204" pitchFamily="34" charset="0"/>
                <a:ea typeface="Times New Roman" panose="02020603050405020304" pitchFamily="18" charset="0"/>
              </a:rPr>
              <a:t>Gælder asbestbekendtgørelsen også for private? </a:t>
            </a:r>
            <a:endParaRPr lang="da-DK" sz="1800" dirty="0">
              <a:effectLst/>
              <a:latin typeface="Times New Roman" panose="02020603050405020304" pitchFamily="18" charset="0"/>
              <a:ea typeface="Times New Roman" panose="02020603050405020304" pitchFamily="18" charset="0"/>
            </a:endParaRPr>
          </a:p>
        </p:txBody>
      </p:sp>
      <p:sp>
        <p:nvSpPr>
          <p:cNvPr id="3" name="Tekstfelt 2">
            <a:extLst>
              <a:ext uri="{FF2B5EF4-FFF2-40B4-BE49-F238E27FC236}">
                <a16:creationId xmlns:a16="http://schemas.microsoft.com/office/drawing/2014/main" id="{506A2DF0-4650-6D22-4924-87D443037C32}"/>
              </a:ext>
            </a:extLst>
          </p:cNvPr>
          <p:cNvSpPr txBox="1"/>
          <p:nvPr/>
        </p:nvSpPr>
        <p:spPr>
          <a:xfrm>
            <a:off x="3275045" y="4086808"/>
            <a:ext cx="3566426" cy="369332"/>
          </a:xfrm>
          <a:prstGeom prst="rect">
            <a:avLst/>
          </a:prstGeom>
          <a:noFill/>
        </p:spPr>
        <p:txBody>
          <a:bodyPr wrap="none" rtlCol="0">
            <a:spAutoFit/>
          </a:bodyPr>
          <a:lstStyle/>
          <a:p>
            <a:r>
              <a:rPr lang="da-DK" dirty="0"/>
              <a:t>Ja bekendtgørelsen gælder for alle</a:t>
            </a:r>
          </a:p>
        </p:txBody>
      </p:sp>
    </p:spTree>
    <p:extLst>
      <p:ext uri="{BB962C8B-B14F-4D97-AF65-F5344CB8AC3E}">
        <p14:creationId xmlns:p14="http://schemas.microsoft.com/office/powerpoint/2010/main" val="14849815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D9586-83AA-E207-1A1D-BEE77A0BD417}"/>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D27E530A-92E6-E33E-97BE-B09DD4CADF6C}"/>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FAD32C69-E316-DA8D-55C7-636EA071E67E}"/>
              </a:ext>
            </a:extLst>
          </p:cNvPr>
          <p:cNvSpPr txBox="1"/>
          <p:nvPr/>
        </p:nvSpPr>
        <p:spPr>
          <a:xfrm>
            <a:off x="3015234" y="2789027"/>
            <a:ext cx="6158484" cy="923330"/>
          </a:xfrm>
          <a:prstGeom prst="rect">
            <a:avLst/>
          </a:prstGeom>
          <a:noFill/>
        </p:spPr>
        <p:txBody>
          <a:bodyPr wrap="square">
            <a:spAutoFit/>
          </a:bodyPr>
          <a:lstStyle/>
          <a:p>
            <a:pPr marL="228600">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lvl="0">
              <a:tabLst>
                <a:tab pos="228600" algn="l"/>
              </a:tabLst>
            </a:pPr>
            <a:r>
              <a:rPr lang="da-DK" sz="1800" dirty="0">
                <a:effectLst/>
                <a:latin typeface="Calibri" panose="020F0502020204030204" pitchFamily="34" charset="0"/>
                <a:ea typeface="Times New Roman" panose="02020603050405020304" pitchFamily="18" charset="0"/>
              </a:rPr>
              <a:t>2. Hvilke typer asbestarbejde skal anmeldes, og hvad skal ikke anmeldes?</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2D2B7D94-0D24-1B2E-5C66-ACD21957B733}"/>
              </a:ext>
            </a:extLst>
          </p:cNvPr>
          <p:cNvSpPr txBox="1"/>
          <p:nvPr/>
        </p:nvSpPr>
        <p:spPr>
          <a:xfrm>
            <a:off x="4012163" y="4357396"/>
            <a:ext cx="4221092" cy="369332"/>
          </a:xfrm>
          <a:prstGeom prst="rect">
            <a:avLst/>
          </a:prstGeom>
          <a:noFill/>
        </p:spPr>
        <p:txBody>
          <a:bodyPr wrap="none" rtlCol="0">
            <a:spAutoFit/>
          </a:bodyPr>
          <a:lstStyle/>
          <a:p>
            <a:r>
              <a:rPr lang="da-DK" dirty="0"/>
              <a:t>Alle typer </a:t>
            </a:r>
            <a:r>
              <a:rPr lang="da-DK" b="1" u="sng" dirty="0"/>
              <a:t>asbestarbejde</a:t>
            </a:r>
            <a:r>
              <a:rPr lang="da-DK" dirty="0"/>
              <a:t> skal anmeldes.</a:t>
            </a:r>
          </a:p>
        </p:txBody>
      </p:sp>
      <p:sp>
        <p:nvSpPr>
          <p:cNvPr id="4" name="Tekstfelt 3">
            <a:extLst>
              <a:ext uri="{FF2B5EF4-FFF2-40B4-BE49-F238E27FC236}">
                <a16:creationId xmlns:a16="http://schemas.microsoft.com/office/drawing/2014/main" id="{45AABFED-75C2-C0D4-DAA6-9F55A18DE243}"/>
              </a:ext>
            </a:extLst>
          </p:cNvPr>
          <p:cNvSpPr txBox="1"/>
          <p:nvPr/>
        </p:nvSpPr>
        <p:spPr>
          <a:xfrm>
            <a:off x="4245429" y="5169159"/>
            <a:ext cx="3510833" cy="369332"/>
          </a:xfrm>
          <a:prstGeom prst="rect">
            <a:avLst/>
          </a:prstGeom>
          <a:noFill/>
        </p:spPr>
        <p:txBody>
          <a:bodyPr wrap="none" rtlCol="0">
            <a:spAutoFit/>
          </a:bodyPr>
          <a:lstStyle/>
          <a:p>
            <a:r>
              <a:rPr lang="da-DK" dirty="0"/>
              <a:t>Andet arbejde skal ikke anmeldes</a:t>
            </a:r>
          </a:p>
        </p:txBody>
      </p:sp>
    </p:spTree>
    <p:extLst>
      <p:ext uri="{BB962C8B-B14F-4D97-AF65-F5344CB8AC3E}">
        <p14:creationId xmlns:p14="http://schemas.microsoft.com/office/powerpoint/2010/main" val="51579230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1A6A-D85D-1588-7DCB-401F61A13F9C}"/>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EF700456-86F2-2C76-3A55-7726BB5CE6D8}"/>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900E6CC1-9AD5-0196-B4E6-57A42B4FD7A0}"/>
              </a:ext>
            </a:extLst>
          </p:cNvPr>
          <p:cNvSpPr txBox="1"/>
          <p:nvPr/>
        </p:nvSpPr>
        <p:spPr>
          <a:xfrm>
            <a:off x="3015234" y="3066026"/>
            <a:ext cx="6158484" cy="369332"/>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3. Til hvem skal der anmeldelse indgives?</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0D5F2315-3123-FE1A-9CE1-24206B61A174}"/>
              </a:ext>
            </a:extLst>
          </p:cNvPr>
          <p:cNvSpPr txBox="1"/>
          <p:nvPr/>
        </p:nvSpPr>
        <p:spPr>
          <a:xfrm>
            <a:off x="4049486" y="4161453"/>
            <a:ext cx="1444242" cy="1569660"/>
          </a:xfrm>
          <a:prstGeom prst="rect">
            <a:avLst/>
          </a:prstGeom>
          <a:noFill/>
        </p:spPr>
        <p:txBody>
          <a:bodyPr wrap="none" rtlCol="0">
            <a:spAutoFit/>
          </a:bodyPr>
          <a:lstStyle/>
          <a:p>
            <a:r>
              <a:rPr lang="da-DK" sz="9600" dirty="0"/>
              <a:t>AT</a:t>
            </a:r>
          </a:p>
        </p:txBody>
      </p:sp>
    </p:spTree>
    <p:extLst>
      <p:ext uri="{BB962C8B-B14F-4D97-AF65-F5344CB8AC3E}">
        <p14:creationId xmlns:p14="http://schemas.microsoft.com/office/powerpoint/2010/main" val="24952937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19375-D2AA-1286-2EF6-71DFA6849048}"/>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268C3F3E-19C2-7236-F285-054EC7E5B5A5}"/>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7D3B5C54-13AA-F062-E07E-CF6309640C8E}"/>
              </a:ext>
            </a:extLst>
          </p:cNvPr>
          <p:cNvSpPr txBox="1"/>
          <p:nvPr/>
        </p:nvSpPr>
        <p:spPr>
          <a:xfrm>
            <a:off x="3015234" y="2927527"/>
            <a:ext cx="6158484" cy="646331"/>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4. Hvilke pligter har arbejdsgiveren mht. personlige værnemidler (masker, dragter mv.)?</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F8B9502C-77AF-4AB4-1E6F-194CFCCF0F10}"/>
              </a:ext>
            </a:extLst>
          </p:cNvPr>
          <p:cNvSpPr txBox="1"/>
          <p:nvPr/>
        </p:nvSpPr>
        <p:spPr>
          <a:xfrm>
            <a:off x="3508310" y="4413380"/>
            <a:ext cx="6787436" cy="369332"/>
          </a:xfrm>
          <a:prstGeom prst="rect">
            <a:avLst/>
          </a:prstGeom>
          <a:noFill/>
        </p:spPr>
        <p:txBody>
          <a:bodyPr wrap="none" rtlCol="0">
            <a:spAutoFit/>
          </a:bodyPr>
          <a:lstStyle/>
          <a:p>
            <a:r>
              <a:rPr lang="da-DK" dirty="0"/>
              <a:t>Arbejdsgiveren skal stille </a:t>
            </a:r>
            <a:r>
              <a:rPr lang="da-DK" b="1" u="sng" dirty="0"/>
              <a:t>egnet</a:t>
            </a:r>
            <a:r>
              <a:rPr lang="da-DK" dirty="0"/>
              <a:t> personlige værnemidler til rådighed</a:t>
            </a:r>
          </a:p>
        </p:txBody>
      </p:sp>
    </p:spTree>
    <p:extLst>
      <p:ext uri="{BB962C8B-B14F-4D97-AF65-F5344CB8AC3E}">
        <p14:creationId xmlns:p14="http://schemas.microsoft.com/office/powerpoint/2010/main" val="14277677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82E64-1E59-C281-3170-BF047E259D64}"/>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4C018C78-971F-0A02-DDFB-31A3805557DD}"/>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E309D224-5948-843D-382C-0729632E0523}"/>
              </a:ext>
            </a:extLst>
          </p:cNvPr>
          <p:cNvSpPr txBox="1"/>
          <p:nvPr/>
        </p:nvSpPr>
        <p:spPr>
          <a:xfrm>
            <a:off x="3015234" y="2927527"/>
            <a:ext cx="6158484" cy="646331"/>
          </a:xfrm>
          <a:prstGeom prst="rect">
            <a:avLst/>
          </a:prstGeom>
          <a:noFill/>
        </p:spPr>
        <p:txBody>
          <a:bodyPr wrap="square">
            <a:spAutoFit/>
          </a:bodyPr>
          <a:lstStyle/>
          <a:p>
            <a:pPr>
              <a:buNone/>
            </a:pPr>
            <a:r>
              <a:rPr lang="da-DK" sz="1800" dirty="0">
                <a:effectLst/>
                <a:latin typeface="Calibri" panose="020F0502020204030204" pitchFamily="34" charset="0"/>
                <a:ea typeface="Times New Roman" panose="02020603050405020304" pitchFamily="18" charset="0"/>
              </a:rPr>
              <a:t> </a:t>
            </a:r>
            <a:endParaRPr lang="da-DK" sz="1800" dirty="0">
              <a:effectLst/>
              <a:latin typeface="Times New Roman" panose="02020603050405020304" pitchFamily="18" charset="0"/>
              <a:ea typeface="Times New Roman" panose="02020603050405020304" pitchFamily="18" charset="0"/>
            </a:endParaRPr>
          </a:p>
          <a:p>
            <a:pPr lvl="0">
              <a:tabLst>
                <a:tab pos="228600" algn="l"/>
              </a:tabLst>
            </a:pPr>
            <a:r>
              <a:rPr lang="da-DK" sz="1800" dirty="0">
                <a:effectLst/>
                <a:latin typeface="Calibri" panose="020F0502020204030204" pitchFamily="34" charset="0"/>
                <a:ea typeface="Times New Roman" panose="02020603050405020304" pitchFamily="18" charset="0"/>
              </a:rPr>
              <a:t>5. Hvilke pligter har den ansatte?</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1D828157-D1A7-9E8B-D01E-3B44C8407EA8}"/>
              </a:ext>
            </a:extLst>
          </p:cNvPr>
          <p:cNvSpPr txBox="1"/>
          <p:nvPr/>
        </p:nvSpPr>
        <p:spPr>
          <a:xfrm>
            <a:off x="2481943" y="4180114"/>
            <a:ext cx="7955576" cy="369332"/>
          </a:xfrm>
          <a:prstGeom prst="rect">
            <a:avLst/>
          </a:prstGeom>
          <a:noFill/>
        </p:spPr>
        <p:txBody>
          <a:bodyPr wrap="none" rtlCol="0">
            <a:spAutoFit/>
          </a:bodyPr>
          <a:lstStyle/>
          <a:p>
            <a:r>
              <a:rPr lang="da-DK" dirty="0"/>
              <a:t>Daglig kontrol, rengøring, eftersyn og videre give oplysninger ang. Skadet udstyr</a:t>
            </a:r>
          </a:p>
        </p:txBody>
      </p:sp>
    </p:spTree>
    <p:extLst>
      <p:ext uri="{BB962C8B-B14F-4D97-AF65-F5344CB8AC3E}">
        <p14:creationId xmlns:p14="http://schemas.microsoft.com/office/powerpoint/2010/main" val="37167067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58ADC-41EF-F910-D6CB-89CF5110929F}"/>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A64CD82-3618-4184-AACE-592549E6042E}"/>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3AA8D1E6-B84D-0DAE-DA0C-4083387902C5}"/>
              </a:ext>
            </a:extLst>
          </p:cNvPr>
          <p:cNvSpPr txBox="1"/>
          <p:nvPr/>
        </p:nvSpPr>
        <p:spPr>
          <a:xfrm>
            <a:off x="3015234" y="3066026"/>
            <a:ext cx="6158484" cy="369332"/>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6. Hvem må ikke arbejde med asbest?</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F85E1D41-B84E-9B03-43EF-791C7F8B1E57}"/>
              </a:ext>
            </a:extLst>
          </p:cNvPr>
          <p:cNvSpPr txBox="1"/>
          <p:nvPr/>
        </p:nvSpPr>
        <p:spPr>
          <a:xfrm>
            <a:off x="2099388" y="3984172"/>
            <a:ext cx="6929269" cy="369332"/>
          </a:xfrm>
          <a:prstGeom prst="rect">
            <a:avLst/>
          </a:prstGeom>
          <a:noFill/>
        </p:spPr>
        <p:txBody>
          <a:bodyPr wrap="none" rtlCol="0">
            <a:spAutoFit/>
          </a:bodyPr>
          <a:lstStyle/>
          <a:p>
            <a:r>
              <a:rPr lang="da-DK" dirty="0"/>
              <a:t>Under 18 med mindre det er i forbindelse med en uddannelsesaftale</a:t>
            </a:r>
          </a:p>
        </p:txBody>
      </p:sp>
    </p:spTree>
    <p:extLst>
      <p:ext uri="{BB962C8B-B14F-4D97-AF65-F5344CB8AC3E}">
        <p14:creationId xmlns:p14="http://schemas.microsoft.com/office/powerpoint/2010/main" val="41014874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BB1B-4636-C84C-738D-3F2B29A6085B}"/>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BD1416C2-704F-C5E9-6981-89D2B4669EBB}"/>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4AC2FEA7-EF15-E9CA-1745-4FC0FDA39816}"/>
              </a:ext>
            </a:extLst>
          </p:cNvPr>
          <p:cNvSpPr txBox="1"/>
          <p:nvPr/>
        </p:nvSpPr>
        <p:spPr>
          <a:xfrm>
            <a:off x="3015234" y="3066026"/>
            <a:ext cx="6158484" cy="369332"/>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7. Hvilke arbejdsmetoder er direkte forbudt?</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E93FCA04-630D-588E-70FB-5DBEA80FF6AC}"/>
              </a:ext>
            </a:extLst>
          </p:cNvPr>
          <p:cNvSpPr txBox="1"/>
          <p:nvPr/>
        </p:nvSpPr>
        <p:spPr>
          <a:xfrm>
            <a:off x="1699618" y="4058817"/>
            <a:ext cx="7805727" cy="369332"/>
          </a:xfrm>
          <a:prstGeom prst="rect">
            <a:avLst/>
          </a:prstGeom>
          <a:noFill/>
        </p:spPr>
        <p:txBody>
          <a:bodyPr wrap="none" rtlCol="0">
            <a:spAutoFit/>
          </a:bodyPr>
          <a:lstStyle/>
          <a:p>
            <a:r>
              <a:rPr lang="da-DK" dirty="0"/>
              <a:t>Højtryks rensning af tage, kasse modellen fratages dispensation d. 1 Juli 2026</a:t>
            </a:r>
          </a:p>
        </p:txBody>
      </p:sp>
    </p:spTree>
    <p:extLst>
      <p:ext uri="{BB962C8B-B14F-4D97-AF65-F5344CB8AC3E}">
        <p14:creationId xmlns:p14="http://schemas.microsoft.com/office/powerpoint/2010/main" val="47308796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34EBA-38DA-3DFA-2B8B-CDF0149D6B55}"/>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AC555B51-46ED-0844-0D10-E8427D54478E}"/>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6B3BFAAC-B1D4-FAF6-0CC4-EE9843EF4C18}"/>
              </a:ext>
            </a:extLst>
          </p:cNvPr>
          <p:cNvSpPr txBox="1"/>
          <p:nvPr/>
        </p:nvSpPr>
        <p:spPr>
          <a:xfrm>
            <a:off x="3015234" y="2927527"/>
            <a:ext cx="6158484" cy="646331"/>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8. Hvilke krav er der til særligt arbejdstøj? (Giv gerne egne kommentarer)</a:t>
            </a:r>
            <a:endParaRPr lang="da-DK" sz="1800" dirty="0">
              <a:effectLst/>
              <a:latin typeface="Times New Roman" panose="02020603050405020304" pitchFamily="18" charset="0"/>
              <a:ea typeface="Times New Roman" panose="02020603050405020304" pitchFamily="18" charset="0"/>
            </a:endParaRPr>
          </a:p>
        </p:txBody>
      </p:sp>
      <p:sp>
        <p:nvSpPr>
          <p:cNvPr id="2" name="Tekstfelt 1">
            <a:extLst>
              <a:ext uri="{FF2B5EF4-FFF2-40B4-BE49-F238E27FC236}">
                <a16:creationId xmlns:a16="http://schemas.microsoft.com/office/drawing/2014/main" id="{B1B9750F-D378-C6A1-AA35-176F33B70B8D}"/>
              </a:ext>
            </a:extLst>
          </p:cNvPr>
          <p:cNvSpPr txBox="1"/>
          <p:nvPr/>
        </p:nvSpPr>
        <p:spPr>
          <a:xfrm>
            <a:off x="3015234" y="4226767"/>
            <a:ext cx="2236446" cy="400110"/>
          </a:xfrm>
          <a:prstGeom prst="rect">
            <a:avLst/>
          </a:prstGeom>
          <a:noFill/>
        </p:spPr>
        <p:txBody>
          <a:bodyPr wrap="none" rtlCol="0">
            <a:spAutoFit/>
          </a:bodyPr>
          <a:lstStyle/>
          <a:p>
            <a:r>
              <a:rPr lang="da-DK" dirty="0"/>
              <a:t>Det skal være </a:t>
            </a:r>
            <a:r>
              <a:rPr lang="da-DK" sz="2000" b="1" dirty="0"/>
              <a:t>egnet</a:t>
            </a:r>
          </a:p>
        </p:txBody>
      </p:sp>
    </p:spTree>
    <p:extLst>
      <p:ext uri="{BB962C8B-B14F-4D97-AF65-F5344CB8AC3E}">
        <p14:creationId xmlns:p14="http://schemas.microsoft.com/office/powerpoint/2010/main" val="419303567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91B1B-784D-A0FC-8E9F-276133E8560E}"/>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2CA3B01-5828-4E74-4116-713164FEB93A}"/>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09500DE4-008F-3EEB-0197-4EFC40287977}"/>
              </a:ext>
            </a:extLst>
          </p:cNvPr>
          <p:cNvSpPr txBox="1"/>
          <p:nvPr/>
        </p:nvSpPr>
        <p:spPr>
          <a:xfrm>
            <a:off x="3015234" y="2835194"/>
            <a:ext cx="6158484" cy="1600438"/>
          </a:xfrm>
          <a:prstGeom prst="rect">
            <a:avLst/>
          </a:prstGeom>
          <a:noFill/>
        </p:spPr>
        <p:txBody>
          <a:bodyPr wrap="square">
            <a:spAutoFit/>
          </a:bodyPr>
          <a:lstStyle/>
          <a:p>
            <a:pPr lvl="0">
              <a:tabLst>
                <a:tab pos="228600" algn="l"/>
              </a:tabLst>
            </a:pPr>
            <a:r>
              <a:rPr lang="da-DK" sz="1400" dirty="0">
                <a:effectLst/>
                <a:latin typeface="Comic Sans MS" panose="030F0702030302020204" pitchFamily="66" charset="0"/>
                <a:ea typeface="Times New Roman" panose="02020603050405020304" pitchFamily="18" charset="0"/>
              </a:rPr>
              <a:t>9. Hvordan er uddannelseskravene i forbindelse med asbestarbejde for en arbejdsgiver?</a:t>
            </a:r>
          </a:p>
          <a:p>
            <a:pPr marL="228600">
              <a:buNone/>
            </a:pPr>
            <a:r>
              <a:rPr lang="da-DK" sz="1400" dirty="0">
                <a:effectLst/>
                <a:latin typeface="Comic Sans MS" panose="030F0702030302020204" pitchFamily="66" charset="0"/>
                <a:ea typeface="Times New Roman" panose="02020603050405020304" pitchFamily="18" charset="0"/>
              </a:rPr>
              <a:t> </a:t>
            </a:r>
          </a:p>
          <a:p>
            <a:pPr marL="742950" lvl="1" indent="-285750">
              <a:buFont typeface="+mj-lt"/>
              <a:buAutoNum type="alphaLcPeriod"/>
              <a:tabLst>
                <a:tab pos="685800" algn="l"/>
              </a:tabLst>
            </a:pPr>
            <a:r>
              <a:rPr lang="da-DK" sz="1400" dirty="0">
                <a:effectLst/>
                <a:latin typeface="Comic Sans MS" panose="030F0702030302020204" pitchFamily="66" charset="0"/>
                <a:ea typeface="Times New Roman" panose="02020603050405020304" pitchFamily="18" charset="0"/>
              </a:rPr>
              <a:t>Ved nedrivning    4 dages kursus</a:t>
            </a:r>
          </a:p>
          <a:p>
            <a:pPr marL="742950" lvl="1" indent="-285750">
              <a:buFont typeface="+mj-lt"/>
              <a:buAutoNum type="alphaLcPeriod"/>
              <a:tabLst>
                <a:tab pos="685800" algn="l"/>
              </a:tabLst>
            </a:pPr>
            <a:endParaRPr lang="da-DK" sz="1400" dirty="0">
              <a:latin typeface="Comic Sans MS" panose="030F0702030302020204" pitchFamily="66" charset="0"/>
              <a:ea typeface="Times New Roman" panose="02020603050405020304" pitchFamily="18" charset="0"/>
            </a:endParaRPr>
          </a:p>
          <a:p>
            <a:pPr marL="742950" lvl="1" indent="-285750">
              <a:buFont typeface="+mj-lt"/>
              <a:buAutoNum type="alphaLcPeriod"/>
              <a:tabLst>
                <a:tab pos="685800" algn="l"/>
              </a:tabLst>
            </a:pPr>
            <a:endParaRPr lang="da-DK" sz="1400" dirty="0">
              <a:effectLst/>
              <a:latin typeface="Comic Sans MS" panose="030F0702030302020204" pitchFamily="66" charset="0"/>
              <a:ea typeface="Times New Roman" panose="02020603050405020304" pitchFamily="18" charset="0"/>
            </a:endParaRPr>
          </a:p>
          <a:p>
            <a:pPr marL="742950" lvl="1" indent="-285750">
              <a:buFont typeface="+mj-lt"/>
              <a:buAutoNum type="alphaLcPeriod"/>
              <a:tabLst>
                <a:tab pos="685800" algn="l"/>
              </a:tabLst>
            </a:pPr>
            <a:r>
              <a:rPr lang="da-DK" sz="1400" dirty="0">
                <a:effectLst/>
                <a:latin typeface="Comic Sans MS" panose="030F0702030302020204" pitchFamily="66" charset="0"/>
                <a:ea typeface="Times New Roman" panose="02020603050405020304" pitchFamily="18" charset="0"/>
              </a:rPr>
              <a:t>Ved fjernelse af få fx få tagplader   2 dages kursus</a:t>
            </a:r>
          </a:p>
        </p:txBody>
      </p:sp>
    </p:spTree>
    <p:extLst>
      <p:ext uri="{BB962C8B-B14F-4D97-AF65-F5344CB8AC3E}">
        <p14:creationId xmlns:p14="http://schemas.microsoft.com/office/powerpoint/2010/main" val="34505800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1000"/>
                                        <p:tgtEl>
                                          <p:spTgt spid="3">
                                            <p:txEl>
                                              <p:pRg st="5" end="5"/>
                                            </p:txEl>
                                          </p:spTgt>
                                        </p:tgtEl>
                                      </p:cBhvr>
                                    </p:animEffect>
                                    <p:anim calcmode="lin" valueType="num">
                                      <p:cBhvr>
                                        <p:cTn id="1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696C7-E0A5-4CD7-4A81-C3476D709CA3}"/>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29E5FE58-7CDA-B453-D9A0-EC7FC8F35497}"/>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5914F8BE-840E-D136-A3F3-CEF6697B9F46}"/>
              </a:ext>
            </a:extLst>
          </p:cNvPr>
          <p:cNvSpPr txBox="1"/>
          <p:nvPr/>
        </p:nvSpPr>
        <p:spPr>
          <a:xfrm>
            <a:off x="3015234" y="3066026"/>
            <a:ext cx="6158484" cy="369332"/>
          </a:xfrm>
          <a:prstGeom prst="rect">
            <a:avLst/>
          </a:prstGeom>
          <a:noFill/>
        </p:spPr>
        <p:txBody>
          <a:bodyPr wrap="square">
            <a:spAutoFit/>
          </a:bodyPr>
          <a:lstStyle/>
          <a:p>
            <a:r>
              <a:rPr lang="da-DK" sz="1800" kern="0" dirty="0">
                <a:effectLst/>
                <a:latin typeface="Calibri" panose="020F0502020204030204" pitchFamily="34" charset="0"/>
                <a:ea typeface="Times New Roman" panose="02020603050405020304" pitchFamily="18" charset="0"/>
              </a:rPr>
              <a:t>10. Hvilke typer asbestarbejde må private udfører? </a:t>
            </a:r>
            <a:endParaRPr lang="da-DK" dirty="0"/>
          </a:p>
        </p:txBody>
      </p:sp>
      <p:sp>
        <p:nvSpPr>
          <p:cNvPr id="2" name="Tekstfelt 1">
            <a:extLst>
              <a:ext uri="{FF2B5EF4-FFF2-40B4-BE49-F238E27FC236}">
                <a16:creationId xmlns:a16="http://schemas.microsoft.com/office/drawing/2014/main" id="{2D4F1362-ACA6-F9C6-A4DD-57E1C79BB80A}"/>
              </a:ext>
            </a:extLst>
          </p:cNvPr>
          <p:cNvSpPr txBox="1"/>
          <p:nvPr/>
        </p:nvSpPr>
        <p:spPr>
          <a:xfrm>
            <a:off x="890929" y="4112395"/>
            <a:ext cx="10158871" cy="369332"/>
          </a:xfrm>
          <a:prstGeom prst="rect">
            <a:avLst/>
          </a:prstGeom>
          <a:noFill/>
        </p:spPr>
        <p:txBody>
          <a:bodyPr wrap="none" rtlCol="0">
            <a:spAutoFit/>
          </a:bodyPr>
          <a:lstStyle/>
          <a:p>
            <a:r>
              <a:rPr lang="da-DK" dirty="0"/>
              <a:t> Fx rengøring for asbeststøv, fjernelse af asbestforurenet materiale, asbestoprydning og prøvetagning.</a:t>
            </a:r>
          </a:p>
        </p:txBody>
      </p:sp>
    </p:spTree>
    <p:extLst>
      <p:ext uri="{BB962C8B-B14F-4D97-AF65-F5344CB8AC3E}">
        <p14:creationId xmlns:p14="http://schemas.microsoft.com/office/powerpoint/2010/main" val="4925686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B1D6B-D336-F0DF-5385-0D98A7FD8AE3}"/>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D12992FA-DF6E-770A-38E2-E9DDA6FDA1F0}"/>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60783F09-10CE-2010-891E-9DD737210E2E}"/>
              </a:ext>
            </a:extLst>
          </p:cNvPr>
          <p:cNvSpPr txBox="1"/>
          <p:nvPr/>
        </p:nvSpPr>
        <p:spPr>
          <a:xfrm>
            <a:off x="1960874" y="1134590"/>
            <a:ext cx="6158484" cy="369332"/>
          </a:xfrm>
          <a:prstGeom prst="rect">
            <a:avLst/>
          </a:prstGeom>
          <a:noFill/>
        </p:spPr>
        <p:txBody>
          <a:bodyPr wrap="square">
            <a:spAutoFit/>
          </a:bodyPr>
          <a:lstStyle/>
          <a:p>
            <a:r>
              <a:rPr lang="da-DK" sz="1800" kern="0" dirty="0">
                <a:effectLst/>
                <a:latin typeface="Calibri" panose="020F0502020204030204" pitchFamily="34" charset="0"/>
                <a:ea typeface="Times New Roman" panose="02020603050405020304" pitchFamily="18" charset="0"/>
              </a:rPr>
              <a:t>11. Hvori består bygherrens forpligtelser?</a:t>
            </a:r>
            <a:endParaRPr lang="da-DK" dirty="0"/>
          </a:p>
        </p:txBody>
      </p:sp>
      <p:sp>
        <p:nvSpPr>
          <p:cNvPr id="4" name="Tekstfelt 3">
            <a:extLst>
              <a:ext uri="{FF2B5EF4-FFF2-40B4-BE49-F238E27FC236}">
                <a16:creationId xmlns:a16="http://schemas.microsoft.com/office/drawing/2014/main" id="{1360198D-4775-D92A-8877-A65748A76BA2}"/>
              </a:ext>
            </a:extLst>
          </p:cNvPr>
          <p:cNvSpPr txBox="1"/>
          <p:nvPr/>
        </p:nvSpPr>
        <p:spPr>
          <a:xfrm>
            <a:off x="494523" y="1624727"/>
            <a:ext cx="11579290" cy="4717958"/>
          </a:xfrm>
          <a:prstGeom prst="rect">
            <a:avLst/>
          </a:prstGeom>
          <a:noFill/>
        </p:spPr>
        <p:txBody>
          <a:bodyPr wrap="square">
            <a:spAutoFit/>
          </a:bodyPr>
          <a:lstStyle/>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at der udføres forundersøgelser for asbest.</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at der udarbejdes PSS for asbestarbejdet, fordi det er særligt farligt arbejde. PSS skal fx altid indeholde byggepladstegning og tidsplan. For store bygge- og anlægspladser indgår PSS for asbestarbejdet i den generelle PSS.</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PSS udarbejdes under projekteringen og skal færdiggøres, inden byggeproces og renovering går i gang.</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Hvis arbejdsmiljøkoordinator i projekteringsfasen ikke er den samme som i byggefasen, skal det sikres, at der sker en forsvarlig overlevering af viden, vurderinger m.v. fra arbejdsmiljøkoordinator i projekteringsfasen til arbejdsmiljøkoordinator i byggefasen.</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at der udarbejdes journal for reparation og vedligehold af den færdige bygning, så arbejde kan udføres, uden at der er risiko for udsættelse for asbest.</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Bef>
                <a:spcPts val="1200"/>
              </a:spcBef>
              <a:spcAft>
                <a:spcPts val="800"/>
              </a:spcAft>
              <a:buSzPts val="1000"/>
              <a:buFont typeface="Symbol" panose="05050102010706020507" pitchFamily="18" charset="2"/>
              <a:buChar char=""/>
              <a:tabLst>
                <a:tab pos="457200" algn="l"/>
              </a:tabLst>
            </a:pPr>
            <a:r>
              <a:rPr lang="da-DK" sz="1800" kern="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at projekteringen koordineres, så udførelsen kan ske, uden at der er risiko for udsættelse for asbest.</a:t>
            </a:r>
            <a:endParaRPr lang="da-DK" sz="1800" kern="100" dirty="0">
              <a:solidFill>
                <a:srgbClr val="333333"/>
              </a:solidFill>
              <a:effectLst/>
              <a:latin typeface="Aptos" panose="020B0004020202020204" pitchFamily="34" charset="0"/>
              <a:ea typeface="Aptos" panose="020B0004020202020204" pitchFamily="34" charset="0"/>
              <a:cs typeface="Times New Roman" panose="02020603050405020304" pitchFamily="18" charset="0"/>
            </a:endParaRPr>
          </a:p>
          <a:p>
            <a:pPr>
              <a:buNone/>
            </a:pPr>
            <a:r>
              <a:rPr lang="da-DK" sz="1800" kern="0" dirty="0">
                <a:solidFill>
                  <a:srgbClr val="333333"/>
                </a:solidFill>
                <a:effectLst/>
                <a:latin typeface="Calibri" panose="020F0502020204030204" pitchFamily="34" charset="0"/>
                <a:ea typeface="Times New Roman" panose="02020603050405020304" pitchFamily="18" charset="0"/>
              </a:rPr>
              <a:t>at koordinere for sikkerhed og sundhed i forhold til udførelsen</a:t>
            </a:r>
            <a:endParaRPr lang="da-DK" dirty="0"/>
          </a:p>
        </p:txBody>
      </p:sp>
    </p:spTree>
    <p:extLst>
      <p:ext uri="{BB962C8B-B14F-4D97-AF65-F5344CB8AC3E}">
        <p14:creationId xmlns:p14="http://schemas.microsoft.com/office/powerpoint/2010/main" val="82262210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E408B-A244-10C1-B445-8124D04CABF3}"/>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07DAC5DC-35F6-C420-A06C-83CD364089B5}"/>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AAFF751E-0F88-A81C-AAD9-7ECF9D98DB95}"/>
              </a:ext>
            </a:extLst>
          </p:cNvPr>
          <p:cNvSpPr txBox="1"/>
          <p:nvPr/>
        </p:nvSpPr>
        <p:spPr>
          <a:xfrm>
            <a:off x="3015234" y="3066026"/>
            <a:ext cx="6158484" cy="369332"/>
          </a:xfrm>
          <a:prstGeom prst="rect">
            <a:avLst/>
          </a:prstGeom>
          <a:noFill/>
        </p:spPr>
        <p:txBody>
          <a:bodyPr wrap="square">
            <a:spAutoFit/>
          </a:bodyPr>
          <a:lstStyle/>
          <a:p>
            <a:r>
              <a:rPr lang="da-DK" sz="1800" kern="0" dirty="0">
                <a:effectLst/>
                <a:latin typeface="Calibri" panose="020F0502020204030204" pitchFamily="34" charset="0"/>
                <a:ea typeface="Times New Roman" panose="02020603050405020304" pitchFamily="18" charset="0"/>
              </a:rPr>
              <a:t>12. Hvad skal foreligge, før arbejdet påbegyndes?</a:t>
            </a:r>
            <a:endParaRPr lang="da-DK" dirty="0"/>
          </a:p>
        </p:txBody>
      </p:sp>
      <p:sp>
        <p:nvSpPr>
          <p:cNvPr id="4" name="Tekstfelt 3">
            <a:extLst>
              <a:ext uri="{FF2B5EF4-FFF2-40B4-BE49-F238E27FC236}">
                <a16:creationId xmlns:a16="http://schemas.microsoft.com/office/drawing/2014/main" id="{90911DD7-0046-F424-3728-0A8FD7A78D09}"/>
              </a:ext>
            </a:extLst>
          </p:cNvPr>
          <p:cNvSpPr txBox="1"/>
          <p:nvPr/>
        </p:nvSpPr>
        <p:spPr>
          <a:xfrm>
            <a:off x="2876162" y="4060763"/>
            <a:ext cx="6162868" cy="369332"/>
          </a:xfrm>
          <a:prstGeom prst="rect">
            <a:avLst/>
          </a:prstGeom>
          <a:noFill/>
        </p:spPr>
        <p:txBody>
          <a:bodyPr wrap="square">
            <a:spAutoFit/>
          </a:bodyPr>
          <a:lstStyle/>
          <a:p>
            <a:r>
              <a:rPr lang="da-DK" sz="1800" kern="0" dirty="0">
                <a:solidFill>
                  <a:srgbClr val="333333"/>
                </a:solidFill>
                <a:effectLst/>
                <a:latin typeface="Calibri" panose="020F0502020204030204" pitchFamily="34" charset="0"/>
                <a:ea typeface="Times New Roman" panose="02020603050405020304" pitchFamily="18" charset="0"/>
              </a:rPr>
              <a:t>forundersøgelser for asbest og andre farlige stoffer</a:t>
            </a:r>
            <a:endParaRPr lang="da-DK" dirty="0"/>
          </a:p>
        </p:txBody>
      </p:sp>
    </p:spTree>
    <p:extLst>
      <p:ext uri="{BB962C8B-B14F-4D97-AF65-F5344CB8AC3E}">
        <p14:creationId xmlns:p14="http://schemas.microsoft.com/office/powerpoint/2010/main" val="305502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4BBF-893C-CDD9-8849-E5211CC1FB71}"/>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137AA30-7A3C-5ECF-C070-54AA45223E8C}"/>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107C1C0B-295E-DA86-FA09-0E2425BC070A}"/>
              </a:ext>
            </a:extLst>
          </p:cNvPr>
          <p:cNvSpPr txBox="1"/>
          <p:nvPr/>
        </p:nvSpPr>
        <p:spPr>
          <a:xfrm>
            <a:off x="1932883" y="1595978"/>
            <a:ext cx="6158484" cy="646331"/>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13. Har en ansat krav på en lægeundersøgelse når der skal udføres asbestarbejde som ikke kræver autorisation? </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ACF20221-0A66-C7C7-6C70-9F1BC0E5CE06}"/>
              </a:ext>
            </a:extLst>
          </p:cNvPr>
          <p:cNvSpPr txBox="1"/>
          <p:nvPr/>
        </p:nvSpPr>
        <p:spPr>
          <a:xfrm>
            <a:off x="1149998" y="3315774"/>
            <a:ext cx="6162868" cy="646331"/>
          </a:xfrm>
          <a:prstGeom prst="rect">
            <a:avLst/>
          </a:prstGeom>
          <a:noFill/>
        </p:spPr>
        <p:txBody>
          <a:bodyPr wrap="square">
            <a:spAutoFit/>
          </a:bodyPr>
          <a:lstStyle/>
          <a:p>
            <a:r>
              <a:rPr lang="da-DK" sz="1800" kern="0" dirty="0">
                <a:solidFill>
                  <a:srgbClr val="1E1E1E"/>
                </a:solidFill>
                <a:effectLst/>
                <a:latin typeface="Calibri" panose="020F0502020204030204" pitchFamily="34" charset="0"/>
                <a:ea typeface="Times New Roman" panose="02020603050405020304" pitchFamily="18" charset="0"/>
              </a:rPr>
              <a:t>Denne pligt gælder ikke over for ansatte, der udfører asbestarbejde med lavt støvniveau.</a:t>
            </a:r>
            <a:endParaRPr lang="da-DK" dirty="0"/>
          </a:p>
        </p:txBody>
      </p:sp>
      <p:sp>
        <p:nvSpPr>
          <p:cNvPr id="7" name="Tekstfelt 6">
            <a:extLst>
              <a:ext uri="{FF2B5EF4-FFF2-40B4-BE49-F238E27FC236}">
                <a16:creationId xmlns:a16="http://schemas.microsoft.com/office/drawing/2014/main" id="{AB0A6C24-C19A-231F-67E9-E0F644B2B939}"/>
              </a:ext>
            </a:extLst>
          </p:cNvPr>
          <p:cNvSpPr txBox="1"/>
          <p:nvPr/>
        </p:nvSpPr>
        <p:spPr>
          <a:xfrm>
            <a:off x="4555672" y="4517285"/>
            <a:ext cx="6162868" cy="1563313"/>
          </a:xfrm>
          <a:prstGeom prst="rect">
            <a:avLst/>
          </a:prstGeom>
          <a:noFill/>
        </p:spPr>
        <p:txBody>
          <a:bodyPr wrap="square">
            <a:spAutoFit/>
          </a:bodyPr>
          <a:lstStyle/>
          <a:p>
            <a:pPr>
              <a:lnSpc>
                <a:spcPct val="107000"/>
              </a:lnSpc>
              <a:spcAft>
                <a:spcPts val="800"/>
              </a:spcAft>
              <a:buNone/>
            </a:pPr>
            <a:r>
              <a:rPr lang="da-DK" sz="1800" kern="0" dirty="0">
                <a:solidFill>
                  <a:srgbClr val="1E1E1E"/>
                </a:solidFill>
                <a:effectLst/>
                <a:latin typeface="Calibri" panose="020F0502020204030204" pitchFamily="34" charset="0"/>
                <a:ea typeface="Times New Roman" panose="02020603050405020304" pitchFamily="18" charset="0"/>
                <a:cs typeface="Times New Roman" panose="02020603050405020304" pitchFamily="18" charset="0"/>
              </a:rPr>
              <a:t>Pligten gælder heller ikke over for ansatte, der udfører andet arbejde, hvor der er risiko for udsættelse for asbeststøv, eller ansatte, der uforvarende udsættes for asbeststøv uden selv at udføre et asbestarbejde, fx ved kort ophold eller besøg på en byggeplads med asbestarbejde.</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6172079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D846-F143-180B-95E8-2E8795738EBE}"/>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3ABD4BD9-3CE9-9109-1F57-D1C1F92C83CA}"/>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5BC2547D-8256-AF3C-B4A4-654AB2972D62}"/>
              </a:ext>
            </a:extLst>
          </p:cNvPr>
          <p:cNvSpPr txBox="1"/>
          <p:nvPr/>
        </p:nvSpPr>
        <p:spPr>
          <a:xfrm>
            <a:off x="3015234" y="3066026"/>
            <a:ext cx="6158484" cy="369332"/>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14. Beskriv kort reglerne for helbredsundersøgelser </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B83705F3-8637-D9EB-5C0D-D3A716D5BC49}"/>
              </a:ext>
            </a:extLst>
          </p:cNvPr>
          <p:cNvSpPr txBox="1"/>
          <p:nvPr/>
        </p:nvSpPr>
        <p:spPr>
          <a:xfrm>
            <a:off x="2605574" y="3757232"/>
            <a:ext cx="6162868" cy="1200329"/>
          </a:xfrm>
          <a:prstGeom prst="rect">
            <a:avLst/>
          </a:prstGeom>
          <a:noFill/>
        </p:spPr>
        <p:txBody>
          <a:bodyPr wrap="square">
            <a:spAutoFit/>
          </a:bodyPr>
          <a:lstStyle/>
          <a:p>
            <a:r>
              <a:rPr lang="da-DK" sz="1800" kern="0" dirty="0">
                <a:effectLst/>
                <a:latin typeface="Calibri" panose="020F0502020204030204" pitchFamily="34" charset="0"/>
                <a:ea typeface="Times New Roman" panose="02020603050405020304" pitchFamily="18" charset="0"/>
              </a:rPr>
              <a:t>Ifølge asbestbekendtgørelsen skal ansatte have adgang til en helbredsundersøgelse, inden de påbegynder et asbestarbejde og om nødvendigt med regelmæssige mellemrum herefter og mindst én gang hvert 3. år</a:t>
            </a:r>
            <a:endParaRPr lang="da-DK" dirty="0"/>
          </a:p>
        </p:txBody>
      </p:sp>
    </p:spTree>
    <p:extLst>
      <p:ext uri="{BB962C8B-B14F-4D97-AF65-F5344CB8AC3E}">
        <p14:creationId xmlns:p14="http://schemas.microsoft.com/office/powerpoint/2010/main" val="2717678757"/>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AB85-4C4C-E33B-0CFF-C5FE107F604A}"/>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202170EB-1524-245B-62A3-353FC02A230C}"/>
              </a:ext>
            </a:extLst>
          </p:cNvPr>
          <p:cNvPicPr>
            <a:picLocks noChangeAspect="1"/>
          </p:cNvPicPr>
          <p:nvPr/>
        </p:nvPicPr>
        <p:blipFill>
          <a:blip r:embed="rId2"/>
          <a:stretch>
            <a:fillRect/>
          </a:stretch>
        </p:blipFill>
        <p:spPr>
          <a:xfrm>
            <a:off x="-1" y="-1"/>
            <a:ext cx="12192001" cy="6858001"/>
          </a:xfrm>
          <a:prstGeom prst="rect">
            <a:avLst/>
          </a:prstGeom>
        </p:spPr>
      </p:pic>
      <p:sp>
        <p:nvSpPr>
          <p:cNvPr id="3" name="Tekstfelt 2">
            <a:extLst>
              <a:ext uri="{FF2B5EF4-FFF2-40B4-BE49-F238E27FC236}">
                <a16:creationId xmlns:a16="http://schemas.microsoft.com/office/drawing/2014/main" id="{9FB99EFC-52FA-B000-0FCB-BE4A101C3F39}"/>
              </a:ext>
            </a:extLst>
          </p:cNvPr>
          <p:cNvSpPr txBox="1"/>
          <p:nvPr/>
        </p:nvSpPr>
        <p:spPr>
          <a:xfrm>
            <a:off x="3016757" y="1463763"/>
            <a:ext cx="6158484" cy="646331"/>
          </a:xfrm>
          <a:prstGeom prst="rect">
            <a:avLst/>
          </a:prstGeom>
          <a:noFill/>
        </p:spPr>
        <p:txBody>
          <a:bodyPr wrap="square">
            <a:spAutoFit/>
          </a:bodyPr>
          <a:lstStyle/>
          <a:p>
            <a:pPr lvl="0">
              <a:tabLst>
                <a:tab pos="228600" algn="l"/>
              </a:tabLst>
            </a:pPr>
            <a:r>
              <a:rPr lang="da-DK" sz="1800" dirty="0">
                <a:effectLst/>
                <a:latin typeface="Calibri" panose="020F0502020204030204" pitchFamily="34" charset="0"/>
                <a:ea typeface="Times New Roman" panose="02020603050405020304" pitchFamily="18" charset="0"/>
              </a:rPr>
              <a:t>15. Beskriv reglerne for registrering i protokol af asbestudsatte medarbejdere.</a:t>
            </a:r>
            <a:endParaRPr lang="da-DK" sz="1800" dirty="0">
              <a:effectLst/>
              <a:latin typeface="Times New Roman" panose="02020603050405020304" pitchFamily="18" charset="0"/>
              <a:ea typeface="Times New Roman" panose="02020603050405020304" pitchFamily="18" charset="0"/>
            </a:endParaRPr>
          </a:p>
        </p:txBody>
      </p:sp>
      <p:sp>
        <p:nvSpPr>
          <p:cNvPr id="4" name="Tekstfelt 3">
            <a:extLst>
              <a:ext uri="{FF2B5EF4-FFF2-40B4-BE49-F238E27FC236}">
                <a16:creationId xmlns:a16="http://schemas.microsoft.com/office/drawing/2014/main" id="{2405F411-5354-E624-8709-E8F1BC3D3AAA}"/>
              </a:ext>
            </a:extLst>
          </p:cNvPr>
          <p:cNvSpPr txBox="1"/>
          <p:nvPr/>
        </p:nvSpPr>
        <p:spPr>
          <a:xfrm>
            <a:off x="870080" y="3573858"/>
            <a:ext cx="10289332" cy="970587"/>
          </a:xfrm>
          <a:prstGeom prst="rect">
            <a:avLst/>
          </a:prstGeom>
          <a:noFill/>
        </p:spPr>
        <p:txBody>
          <a:bodyPr wrap="square">
            <a:spAutoFit/>
          </a:bodyPr>
          <a:lstStyle/>
          <a:p>
            <a:pPr>
              <a:lnSpc>
                <a:spcPct val="107000"/>
              </a:lnSpc>
              <a:spcAft>
                <a:spcPts val="800"/>
              </a:spcAft>
              <a:buNone/>
            </a:pPr>
            <a:r>
              <a:rPr lang="da-DK"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 arbejdsgiver skal registrere oplysninger om enhver ansat, der udfører asbestarbejde, herunder indlejet arbejdskraft. Ansatte, som ved udførelse af andet arbejde end asbestarbejde formodes reelt at være blevet udsat for asbeststøv, skal også registreres i asbestprotokoller.</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Tekstfelt 6">
            <a:extLst>
              <a:ext uri="{FF2B5EF4-FFF2-40B4-BE49-F238E27FC236}">
                <a16:creationId xmlns:a16="http://schemas.microsoft.com/office/drawing/2014/main" id="{DF0A0464-0E9D-2BC9-74EF-34DF8415A080}"/>
              </a:ext>
            </a:extLst>
          </p:cNvPr>
          <p:cNvSpPr txBox="1"/>
          <p:nvPr/>
        </p:nvSpPr>
        <p:spPr>
          <a:xfrm>
            <a:off x="2213688" y="4934684"/>
            <a:ext cx="6162868" cy="674224"/>
          </a:xfrm>
          <a:prstGeom prst="rect">
            <a:avLst/>
          </a:prstGeom>
          <a:noFill/>
        </p:spPr>
        <p:txBody>
          <a:bodyPr wrap="square">
            <a:spAutoFit/>
          </a:bodyPr>
          <a:lstStyle/>
          <a:p>
            <a:pPr>
              <a:lnSpc>
                <a:spcPct val="107000"/>
              </a:lnSpc>
              <a:spcAft>
                <a:spcPts val="800"/>
              </a:spcAft>
              <a:buNone/>
            </a:pPr>
            <a:r>
              <a:rPr lang="da-DK" sz="1800" kern="0" dirty="0">
                <a:solidFill>
                  <a:srgbClr val="1E1E1E"/>
                </a:solidFill>
                <a:effectLst/>
                <a:latin typeface="Calibri" panose="020F0502020204030204" pitchFamily="34" charset="0"/>
                <a:ea typeface="Times New Roman" panose="02020603050405020304" pitchFamily="18" charset="0"/>
                <a:cs typeface="Times New Roman" panose="02020603050405020304" pitchFamily="18" charset="0"/>
              </a:rPr>
              <a:t>Arbejdsgiverens registreringspligt gælder i forhold til aktuelt ansatte og ikke tidligere ansatte.</a:t>
            </a:r>
            <a:endParaRPr lang="da-DK"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7984186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80">
                                          <p:stCondLst>
                                            <p:cond delay="0"/>
                                          </p:stCondLst>
                                        </p:cTn>
                                        <p:tgtEl>
                                          <p:spTgt spid="7"/>
                                        </p:tgtEl>
                                      </p:cBhvr>
                                    </p:animEffect>
                                    <p:anim calcmode="lin" valueType="num">
                                      <p:cBhvr>
                                        <p:cTn id="1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8" dur="26">
                                          <p:stCondLst>
                                            <p:cond delay="650"/>
                                          </p:stCondLst>
                                        </p:cTn>
                                        <p:tgtEl>
                                          <p:spTgt spid="7"/>
                                        </p:tgtEl>
                                      </p:cBhvr>
                                      <p:to x="100000" y="60000"/>
                                    </p:animScale>
                                    <p:animScale>
                                      <p:cBhvr>
                                        <p:cTn id="19" dur="166" decel="50000">
                                          <p:stCondLst>
                                            <p:cond delay="676"/>
                                          </p:stCondLst>
                                        </p:cTn>
                                        <p:tgtEl>
                                          <p:spTgt spid="7"/>
                                        </p:tgtEl>
                                      </p:cBhvr>
                                      <p:to x="100000" y="100000"/>
                                    </p:animScale>
                                    <p:animScale>
                                      <p:cBhvr>
                                        <p:cTn id="20" dur="26">
                                          <p:stCondLst>
                                            <p:cond delay="1312"/>
                                          </p:stCondLst>
                                        </p:cTn>
                                        <p:tgtEl>
                                          <p:spTgt spid="7"/>
                                        </p:tgtEl>
                                      </p:cBhvr>
                                      <p:to x="100000" y="80000"/>
                                    </p:animScale>
                                    <p:animScale>
                                      <p:cBhvr>
                                        <p:cTn id="21" dur="166" decel="50000">
                                          <p:stCondLst>
                                            <p:cond delay="1338"/>
                                          </p:stCondLst>
                                        </p:cTn>
                                        <p:tgtEl>
                                          <p:spTgt spid="7"/>
                                        </p:tgtEl>
                                      </p:cBhvr>
                                      <p:to x="100000" y="100000"/>
                                    </p:animScale>
                                    <p:animScale>
                                      <p:cBhvr>
                                        <p:cTn id="22" dur="26">
                                          <p:stCondLst>
                                            <p:cond delay="1642"/>
                                          </p:stCondLst>
                                        </p:cTn>
                                        <p:tgtEl>
                                          <p:spTgt spid="7"/>
                                        </p:tgtEl>
                                      </p:cBhvr>
                                      <p:to x="100000" y="90000"/>
                                    </p:animScale>
                                    <p:animScale>
                                      <p:cBhvr>
                                        <p:cTn id="23" dur="166" decel="50000">
                                          <p:stCondLst>
                                            <p:cond delay="1668"/>
                                          </p:stCondLst>
                                        </p:cTn>
                                        <p:tgtEl>
                                          <p:spTgt spid="7"/>
                                        </p:tgtEl>
                                      </p:cBhvr>
                                      <p:to x="100000" y="100000"/>
                                    </p:animScale>
                                    <p:animScale>
                                      <p:cBhvr>
                                        <p:cTn id="24" dur="26">
                                          <p:stCondLst>
                                            <p:cond delay="1808"/>
                                          </p:stCondLst>
                                        </p:cTn>
                                        <p:tgtEl>
                                          <p:spTgt spid="7"/>
                                        </p:tgtEl>
                                      </p:cBhvr>
                                      <p:to x="100000" y="95000"/>
                                    </p:animScale>
                                    <p:animScale>
                                      <p:cBhvr>
                                        <p:cTn id="25"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898B0-C6BD-5B05-8F31-87246AEE4434}"/>
            </a:ext>
          </a:extLst>
        </p:cNvPr>
        <p:cNvGrpSpPr/>
        <p:nvPr/>
      </p:nvGrpSpPr>
      <p:grpSpPr>
        <a:xfrm>
          <a:off x="0" y="0"/>
          <a:ext cx="0" cy="0"/>
          <a:chOff x="0" y="0"/>
          <a:chExt cx="0" cy="0"/>
        </a:xfrm>
      </p:grpSpPr>
      <p:pic>
        <p:nvPicPr>
          <p:cNvPr id="5" name="Billede 4">
            <a:extLst>
              <a:ext uri="{FF2B5EF4-FFF2-40B4-BE49-F238E27FC236}">
                <a16:creationId xmlns:a16="http://schemas.microsoft.com/office/drawing/2014/main" id="{689D541D-1AA0-CAA6-7397-8AD5EDC2B0B1}"/>
              </a:ext>
            </a:extLst>
          </p:cNvPr>
          <p:cNvPicPr>
            <a:picLocks noChangeAspect="1"/>
          </p:cNvPicPr>
          <p:nvPr/>
        </p:nvPicPr>
        <p:blipFill>
          <a:blip r:embed="rId2"/>
          <a:stretch>
            <a:fillRect/>
          </a:stretch>
        </p:blipFill>
        <p:spPr>
          <a:xfrm>
            <a:off x="-1" y="-85726"/>
            <a:ext cx="12192001" cy="6858001"/>
          </a:xfrm>
          <a:prstGeom prst="rect">
            <a:avLst/>
          </a:prstGeom>
        </p:spPr>
      </p:pic>
    </p:spTree>
    <p:extLst>
      <p:ext uri="{BB962C8B-B14F-4D97-AF65-F5344CB8AC3E}">
        <p14:creationId xmlns:p14="http://schemas.microsoft.com/office/powerpoint/2010/main" val="1280826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BBA73-38A9-47D7-B6EA-30E9A39724B1}"/>
              </a:ext>
            </a:extLst>
          </p:cNvPr>
          <p:cNvSpPr>
            <a:spLocks noGrp="1"/>
          </p:cNvSpPr>
          <p:nvPr>
            <p:ph type="title"/>
          </p:nvPr>
        </p:nvSpPr>
        <p:spPr/>
        <p:txBody>
          <a:bodyPr/>
          <a:lstStyle/>
          <a:p>
            <a:endParaRPr lang="da-DK"/>
          </a:p>
        </p:txBody>
      </p:sp>
    </p:spTree>
    <p:extLst>
      <p:ext uri="{BB962C8B-B14F-4D97-AF65-F5344CB8AC3E}">
        <p14:creationId xmlns:p14="http://schemas.microsoft.com/office/powerpoint/2010/main" val="165270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2E88B3-E52F-4384-A320-11BFCFF0D7AC}"/>
              </a:ext>
            </a:extLst>
          </p:cNvPr>
          <p:cNvSpPr>
            <a:spLocks noGrp="1"/>
          </p:cNvSpPr>
          <p:nvPr>
            <p:ph type="title"/>
          </p:nvPr>
        </p:nvSpPr>
        <p:spPr>
          <a:xfrm>
            <a:off x="612475" y="286607"/>
            <a:ext cx="10955548" cy="1450757"/>
          </a:xfrm>
        </p:spPr>
        <p:txBody>
          <a:bodyPr/>
          <a:lstStyle/>
          <a:p>
            <a:endParaRPr lang="en-US"/>
          </a:p>
        </p:txBody>
      </p:sp>
      <p:sp>
        <p:nvSpPr>
          <p:cNvPr id="16" name="Text Placeholder 2">
            <a:extLst>
              <a:ext uri="{FF2B5EF4-FFF2-40B4-BE49-F238E27FC236}">
                <a16:creationId xmlns:a16="http://schemas.microsoft.com/office/drawing/2014/main" id="{20C30D33-9D52-4699-A481-2A34E29DD308}"/>
              </a:ext>
            </a:extLst>
          </p:cNvPr>
          <p:cNvSpPr>
            <a:spLocks noGrp="1"/>
          </p:cNvSpPr>
          <p:nvPr>
            <p:ph type="body" idx="1"/>
          </p:nvPr>
        </p:nvSpPr>
        <p:spPr>
          <a:xfrm>
            <a:off x="612476" y="1846052"/>
            <a:ext cx="5118340" cy="736282"/>
          </a:xfrm>
        </p:spPr>
        <p:txBody>
          <a:bodyPr/>
          <a:lstStyle/>
          <a:p>
            <a:endParaRPr lang="en-US"/>
          </a:p>
        </p:txBody>
      </p:sp>
      <p:sp>
        <p:nvSpPr>
          <p:cNvPr id="18" name="Content Placeholder 3">
            <a:extLst>
              <a:ext uri="{FF2B5EF4-FFF2-40B4-BE49-F238E27FC236}">
                <a16:creationId xmlns:a16="http://schemas.microsoft.com/office/drawing/2014/main" id="{9F41B229-41F3-433F-95A6-B1731EB4B700}"/>
              </a:ext>
            </a:extLst>
          </p:cNvPr>
          <p:cNvSpPr>
            <a:spLocks noGrp="1"/>
          </p:cNvSpPr>
          <p:nvPr>
            <p:ph sz="half" idx="2"/>
          </p:nvPr>
        </p:nvSpPr>
        <p:spPr>
          <a:xfrm>
            <a:off x="612475" y="2582334"/>
            <a:ext cx="5118339" cy="3378200"/>
          </a:xfrm>
        </p:spPr>
        <p:txBody>
          <a:bodyPr/>
          <a:lstStyle/>
          <a:p>
            <a:endParaRPr lang="en-US"/>
          </a:p>
        </p:txBody>
      </p:sp>
      <p:sp>
        <p:nvSpPr>
          <p:cNvPr id="20" name="Text Placeholder 4">
            <a:extLst>
              <a:ext uri="{FF2B5EF4-FFF2-40B4-BE49-F238E27FC236}">
                <a16:creationId xmlns:a16="http://schemas.microsoft.com/office/drawing/2014/main" id="{4CB7776F-EC05-4452-A453-AC58A5E99AD4}"/>
              </a:ext>
            </a:extLst>
          </p:cNvPr>
          <p:cNvSpPr>
            <a:spLocks noGrp="1"/>
          </p:cNvSpPr>
          <p:nvPr>
            <p:ph type="body" sz="quarter" idx="3"/>
          </p:nvPr>
        </p:nvSpPr>
        <p:spPr>
          <a:xfrm>
            <a:off x="6461184" y="1846052"/>
            <a:ext cx="5118340" cy="736282"/>
          </a:xfrm>
        </p:spPr>
        <p:txBody>
          <a:bodyPr/>
          <a:lstStyle/>
          <a:p>
            <a:endParaRPr lang="en-US"/>
          </a:p>
        </p:txBody>
      </p:sp>
      <p:sp>
        <p:nvSpPr>
          <p:cNvPr id="22" name="Content Placeholder 5">
            <a:extLst>
              <a:ext uri="{FF2B5EF4-FFF2-40B4-BE49-F238E27FC236}">
                <a16:creationId xmlns:a16="http://schemas.microsoft.com/office/drawing/2014/main" id="{A7F60BEE-F16C-42AE-8E50-A5B3C6FD128E}"/>
              </a:ext>
            </a:extLst>
          </p:cNvPr>
          <p:cNvSpPr>
            <a:spLocks noGrp="1"/>
          </p:cNvSpPr>
          <p:nvPr>
            <p:ph sz="quarter" idx="4"/>
          </p:nvPr>
        </p:nvSpPr>
        <p:spPr>
          <a:xfrm>
            <a:off x="6461184" y="2582334"/>
            <a:ext cx="5118339" cy="3378200"/>
          </a:xfrm>
        </p:spPr>
        <p:txBody>
          <a:bodyPr/>
          <a:lstStyle/>
          <a:p>
            <a:endParaRPr lang="en-US" dirty="0"/>
          </a:p>
        </p:txBody>
      </p:sp>
    </p:spTree>
    <p:extLst>
      <p:ext uri="{BB962C8B-B14F-4D97-AF65-F5344CB8AC3E}">
        <p14:creationId xmlns:p14="http://schemas.microsoft.com/office/powerpoint/2010/main" val="63315983"/>
      </p:ext>
    </p:extLst>
  </p:cSld>
  <p:clrMapOvr>
    <a:masterClrMapping/>
  </p:clrMapOvr>
</p:sld>
</file>

<file path=ppt/theme/theme1.xml><?xml version="1.0" encoding="utf-8"?>
<a:theme xmlns:a="http://schemas.openxmlformats.org/drawingml/2006/main" name="Retro">
  <a:themeElements>
    <a:clrScheme name="Brugerdefineret 4">
      <a:dk1>
        <a:srgbClr val="000000"/>
      </a:dk1>
      <a:lt1>
        <a:srgbClr val="FFFFFF"/>
      </a:lt1>
      <a:dk2>
        <a:srgbClr val="595959"/>
      </a:dk2>
      <a:lt2>
        <a:srgbClr val="A7A7A7"/>
      </a:lt2>
      <a:accent1>
        <a:srgbClr val="E30613"/>
      </a:accent1>
      <a:accent2>
        <a:srgbClr val="595959"/>
      </a:accent2>
      <a:accent3>
        <a:srgbClr val="A7A7A7"/>
      </a:accent3>
      <a:accent4>
        <a:srgbClr val="FFFFFF"/>
      </a:accent4>
      <a:accent5>
        <a:srgbClr val="000000"/>
      </a:accent5>
      <a:accent6>
        <a:srgbClr val="595959"/>
      </a:accent6>
      <a:hlink>
        <a:srgbClr val="E30613"/>
      </a:hlink>
      <a:folHlink>
        <a:srgbClr val="A7A7A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ræsentation1" id="{519F6177-5AA6-4E54-9AD7-1A77F89861DA}" vid="{2D7A0308-753A-4D2F-906B-DABA518953D3}"/>
    </a:ext>
  </a:ext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01424b1-a0d7-4bbf-883d-1e236d6c73d1" xsi:nil="true"/>
    <lcf76f155ced4ddcb4097134ff3c332f xmlns="e92348ee-488c-4e14-8eae-9f7c96d5bbd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F67A95758A2A064BA589F58B74CC3A88" ma:contentTypeVersion="11" ma:contentTypeDescription="Opret et nyt dokument." ma:contentTypeScope="" ma:versionID="da56e55c179fe37526927d01d06c4e36">
  <xsd:schema xmlns:xsd="http://www.w3.org/2001/XMLSchema" xmlns:xs="http://www.w3.org/2001/XMLSchema" xmlns:p="http://schemas.microsoft.com/office/2006/metadata/properties" xmlns:ns2="e92348ee-488c-4e14-8eae-9f7c96d5bbdf" xmlns:ns3="401424b1-a0d7-4bbf-883d-1e236d6c73d1" targetNamespace="http://schemas.microsoft.com/office/2006/metadata/properties" ma:root="true" ma:fieldsID="93bfa0d22f94f96a9a4c26e988da5ca2" ns2:_="" ns3:_="">
    <xsd:import namespace="e92348ee-488c-4e14-8eae-9f7c96d5bbdf"/>
    <xsd:import namespace="401424b1-a0d7-4bbf-883d-1e236d6c73d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348ee-488c-4e14-8eae-9f7c96d5bbdf"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ledmærker" ma:readOnly="false" ma:fieldId="{5cf76f15-5ced-4ddc-b409-7134ff3c332f}" ma:taxonomyMulti="true" ma:sspId="3273e385-a8b0-4d51-8803-6e97695cb93c"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1424b1-a0d7-4bbf-883d-1e236d6c73d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7b37993e-7038-4c35-a321-b3f8e11191fa}" ma:internalName="TaxCatchAll" ma:showField="CatchAllData" ma:web="401424b1-a0d7-4bbf-883d-1e236d6c73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9A6746-997D-410B-AA5D-2DF9C7F11D99}">
  <ds:schemaRefs>
    <ds:schemaRef ds:uri="http://schemas.microsoft.com/office/2006/metadata/properties"/>
    <ds:schemaRef ds:uri="http://schemas.microsoft.com/office/infopath/2007/PartnerControls"/>
    <ds:schemaRef ds:uri="401424b1-a0d7-4bbf-883d-1e236d6c73d1"/>
    <ds:schemaRef ds:uri="e92348ee-488c-4e14-8eae-9f7c96d5bbdf"/>
  </ds:schemaRefs>
</ds:datastoreItem>
</file>

<file path=customXml/itemProps2.xml><?xml version="1.0" encoding="utf-8"?>
<ds:datastoreItem xmlns:ds="http://schemas.openxmlformats.org/officeDocument/2006/customXml" ds:itemID="{F397148A-73FB-4138-BA1B-220EB94B7D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2348ee-488c-4e14-8eae-9f7c96d5bbdf"/>
    <ds:schemaRef ds:uri="401424b1-a0d7-4bbf-883d-1e236d6c73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29370-8009-4E9B-9D00-A91A5FEFEA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AMU SYD - PowerPoint skabelon - Hvid baggrund (1)</Template>
  <TotalTime>2</TotalTime>
  <Words>1282</Words>
  <Application>Microsoft Office PowerPoint</Application>
  <PresentationFormat>Widescreen</PresentationFormat>
  <Paragraphs>132</Paragraphs>
  <Slides>43</Slides>
  <Notes>0</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43</vt:i4>
      </vt:variant>
    </vt:vector>
  </HeadingPairs>
  <TitlesOfParts>
    <vt:vector size="50" baseType="lpstr">
      <vt:lpstr>Aptos</vt:lpstr>
      <vt:lpstr>Arial</vt:lpstr>
      <vt:lpstr>Calibri</vt:lpstr>
      <vt:lpstr>Comic Sans MS</vt:lpstr>
      <vt:lpstr>Symbol</vt:lpstr>
      <vt:lpstr>Times New Roman</vt:lpstr>
      <vt:lpstr>Retro</vt:lpstr>
      <vt:lpstr>Svar…………….</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 Ingemann Jensen (OIJ - AMU SYD)</dc:creator>
  <cp:lastModifiedBy>Ole Ingemann Jensen (OIJ - AMU SYD)</cp:lastModifiedBy>
  <cp:revision>2</cp:revision>
  <dcterms:created xsi:type="dcterms:W3CDTF">2026-03-25T12:38:09Z</dcterms:created>
  <dcterms:modified xsi:type="dcterms:W3CDTF">2026-04-07T08:29:30Z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0x010100F67A95758A2A064BA589F58B74CC3A88</vt:lpwstr>
  </property>
</Properties>
</file>